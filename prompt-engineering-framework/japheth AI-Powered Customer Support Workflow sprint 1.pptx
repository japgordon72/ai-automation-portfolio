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Inter ExtraBold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ExtraBold-boldItalic.fntdata"/><Relationship Id="rId21" Type="http://schemas.openxmlformats.org/officeDocument/2006/relationships/font" Target="fonts/InterExtraBold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ade767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ade767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ade7672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ade7672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ade767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ade767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e7cf68d7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e7cf68d7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e7cf68d7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e7cf68d7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AI-Powered Customer Support Workflow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Japheth Gordon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1 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139800" y="1390725"/>
            <a:ext cx="8520600" cy="35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E"/>
              </a:solidFill>
            </a:endParaRPr>
          </a:p>
          <a:p>
            <a:pPr indent="-38735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500"/>
              <a:buFont typeface="Inter"/>
              <a:buChar char="●"/>
            </a:pPr>
            <a:r>
              <a:rPr b="1" lang="en" sz="1600">
                <a:solidFill>
                  <a:srgbClr val="24292E"/>
                </a:solidFill>
              </a:rPr>
              <a:t>Today, we'll explore the challenges in our customer support process, including long wait times and inconsistent information across channels like phone, email, and chat.</a:t>
            </a:r>
            <a:endParaRPr b="1" sz="1600">
              <a:solidFill>
                <a:srgbClr val="24292E"/>
              </a:solidFill>
            </a:endParaRPr>
          </a:p>
          <a:p>
            <a:pPr indent="-3873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Font typeface="Inter"/>
              <a:buChar char="●"/>
            </a:pPr>
            <a:r>
              <a:rPr b="1" lang="en" sz="1600">
                <a:solidFill>
                  <a:srgbClr val="24292E"/>
                </a:solidFill>
              </a:rPr>
              <a:t>Our goal is to improve efficiency by integrating Artificial Intelligence solutions to streamline operations and enhance the customer experience.</a:t>
            </a:r>
            <a:endParaRPr b="1" sz="1600">
              <a:solidFill>
                <a:srgbClr val="24292E"/>
              </a:solidFill>
            </a:endParaRPr>
          </a:p>
          <a:p>
            <a:pPr indent="-3873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Font typeface="Inter"/>
              <a:buChar char="●"/>
            </a:pPr>
            <a:r>
              <a:rPr b="1" lang="en" sz="1600">
                <a:solidFill>
                  <a:srgbClr val="24292E"/>
                </a:solidFill>
              </a:rPr>
              <a:t>Let’s dive into the challenges, expected AI improvements, and the specific tools to achieve our objectives.</a:t>
            </a:r>
            <a:endParaRPr b="1" sz="2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Current Workflow Overview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97" name="Google Shape;97;p30" title="Screenshot 2025-12-02 1743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4585"/>
            <a:ext cx="8991599" cy="3566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ctrTitle"/>
          </p:nvPr>
        </p:nvSpPr>
        <p:spPr>
          <a:xfrm>
            <a:off x="96875" y="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Problems Identified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Google Shape;103;p31"/>
          <p:cNvSpPr/>
          <p:nvPr/>
        </p:nvSpPr>
        <p:spPr>
          <a:xfrm>
            <a:off x="228600" y="800400"/>
            <a:ext cx="8686800" cy="41586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Current Challenges in Customer Service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Long Wait Times: Customers experience excessive delays before reaching a representative.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Inefficient Ticket Management: Issues are often misrouted, causing frustration and the need for repeated explanations.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Inconsistent Information: Customers receive conflicting information from different agents.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Limited Availability: Support is restricted to business hours, leaving customers without assistance outside these times.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Knowledge Gaps: Agents may lack sufficient product knowledge, leading to unresolved inquiries.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/>
          <p:nvPr/>
        </p:nvSpPr>
        <p:spPr>
          <a:xfrm>
            <a:off x="228600" y="1260900"/>
            <a:ext cx="8686800" cy="36597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A. Zendesk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Key Features: Automated ticket management, AI-powered chatbots, robust analytics.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Benefits: Enhances customer satisfaction by reducing wait times and streamlining ticket handling.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B. Freshdesk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Key Features: Multi-channel support, AI ticket prioritization, strict security protocols.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Benefits: Provides comprehensive support and improves efficiency by automating repetitive tasks.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C. Salesforce Service Cloud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Key Features: Integration flexibility, personalization capabilities, strong security measures.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Benefits: Facilitates a tailored customer service experience while ensuring data security.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32"/>
          <p:cNvSpPr txBox="1"/>
          <p:nvPr/>
        </p:nvSpPr>
        <p:spPr>
          <a:xfrm>
            <a:off x="70175" y="206125"/>
            <a:ext cx="8845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Proposed AI Integrations</a:t>
            </a:r>
            <a:endParaRPr sz="47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3"/>
          <p:cNvSpPr txBox="1"/>
          <p:nvPr>
            <p:ph type="ctrTitle"/>
          </p:nvPr>
        </p:nvSpPr>
        <p:spPr>
          <a:xfrm>
            <a:off x="96875" y="3487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Proposed AI integration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5" name="Google Shape;115;p33"/>
          <p:cNvSpPr/>
          <p:nvPr/>
        </p:nvSpPr>
        <p:spPr>
          <a:xfrm>
            <a:off x="96875" y="1149175"/>
            <a:ext cx="9047100" cy="3755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Expected benefits and improvements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4292E"/>
                </a:solidFill>
              </a:rPr>
              <a:t>Here are five expected benefits and improvements from using the top AI tools (Zendesk, Freshdesk, and Salesforce Service Cloud):</a:t>
            </a:r>
            <a:endParaRPr sz="1100">
              <a:solidFill>
                <a:srgbClr val="24292E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100"/>
              <a:buAutoNum type="arabicPeriod"/>
            </a:pPr>
            <a:r>
              <a:rPr b="1" lang="en" sz="1100">
                <a:solidFill>
                  <a:srgbClr val="24292E"/>
                </a:solidFill>
              </a:rPr>
              <a:t>Faster Response Times</a:t>
            </a:r>
            <a:r>
              <a:rPr lang="en" sz="1100">
                <a:solidFill>
                  <a:srgbClr val="24292E"/>
                </a:solidFill>
              </a:rPr>
              <a:t>: AI chatbots and automated ticketing will enable immediate acknowledgment and resolution of common inquiries, substantially reducing wait times for customers.</a:t>
            </a:r>
            <a:endParaRPr sz="1100">
              <a:solidFill>
                <a:srgbClr val="24292E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AutoNum type="arabicPeriod"/>
            </a:pPr>
            <a:r>
              <a:rPr b="1" lang="en" sz="1100">
                <a:solidFill>
                  <a:srgbClr val="24292E"/>
                </a:solidFill>
              </a:rPr>
              <a:t>Enhanced Efficiency</a:t>
            </a:r>
            <a:r>
              <a:rPr lang="en" sz="1100">
                <a:solidFill>
                  <a:srgbClr val="24292E"/>
                </a:solidFill>
              </a:rPr>
              <a:t>: Automation of routine tasks allows customer service representatives to focus on more complex issues, increasing overall productivity and effectiveness.</a:t>
            </a:r>
            <a:endParaRPr sz="1100">
              <a:solidFill>
                <a:srgbClr val="24292E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AutoNum type="arabicPeriod"/>
            </a:pPr>
            <a:r>
              <a:rPr b="1" lang="en" sz="1100">
                <a:solidFill>
                  <a:srgbClr val="24292E"/>
                </a:solidFill>
              </a:rPr>
              <a:t>Improved Customer Satisfaction</a:t>
            </a:r>
            <a:r>
              <a:rPr lang="en" sz="1100">
                <a:solidFill>
                  <a:srgbClr val="24292E"/>
                </a:solidFill>
              </a:rPr>
              <a:t>: Personalized interactions and consistent responses through AI tools lead to a better customer experience, fostering loyalty and trust.</a:t>
            </a:r>
            <a:endParaRPr sz="1100">
              <a:solidFill>
                <a:srgbClr val="24292E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AutoNum type="arabicPeriod"/>
            </a:pPr>
            <a:r>
              <a:rPr b="1" lang="en" sz="1100">
                <a:solidFill>
                  <a:srgbClr val="24292E"/>
                </a:solidFill>
              </a:rPr>
              <a:t>Accurate Ticket Routing</a:t>
            </a:r>
            <a:r>
              <a:rPr lang="en" sz="1100">
                <a:solidFill>
                  <a:srgbClr val="24292E"/>
                </a:solidFill>
              </a:rPr>
              <a:t>: AI-driven systems will ensure that inquiries are correctly categorized and assigned to the appropriate representatives based on expertise and availability, minimizing miscommunication.</a:t>
            </a:r>
            <a:endParaRPr sz="1100">
              <a:solidFill>
                <a:srgbClr val="24292E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AutoNum type="arabicPeriod"/>
            </a:pPr>
            <a:r>
              <a:rPr b="1" lang="en" sz="1100">
                <a:solidFill>
                  <a:srgbClr val="24292E"/>
                </a:solidFill>
              </a:rPr>
              <a:t>Ongoing Insights and Adaptation</a:t>
            </a:r>
            <a:r>
              <a:rPr lang="en" sz="1100">
                <a:solidFill>
                  <a:srgbClr val="24292E"/>
                </a:solidFill>
              </a:rPr>
              <a:t>: Analytics capabilities of these tools will provide valuable insights into customer interactions, enabling continuous improvement and adaptation of service strategies over time.</a:t>
            </a:r>
            <a:endParaRPr sz="1100">
              <a:solidFill>
                <a:srgbClr val="24292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"/>
          <p:cNvSpPr txBox="1"/>
          <p:nvPr>
            <p:ph type="ctrTitle"/>
          </p:nvPr>
        </p:nvSpPr>
        <p:spPr>
          <a:xfrm>
            <a:off x="96875" y="3487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Potential Risks and Limitations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1" name="Google Shape;121;p34"/>
          <p:cNvSpPr/>
          <p:nvPr/>
        </p:nvSpPr>
        <p:spPr>
          <a:xfrm>
            <a:off x="48450" y="1343250"/>
            <a:ext cx="88806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4292E"/>
                </a:solidFill>
              </a:rPr>
              <a:t>1. </a:t>
            </a:r>
            <a:r>
              <a:rPr lang="en" sz="1700">
                <a:solidFill>
                  <a:srgbClr val="24292E"/>
                </a:solidFill>
              </a:rPr>
              <a:t>Technical Challenges: Complexity in integrating AI with existing systems.</a:t>
            </a:r>
            <a:endParaRPr sz="1700">
              <a:solidFill>
                <a:srgbClr val="24292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4292E"/>
                </a:solidFill>
              </a:rPr>
              <a:t>2 . User Resistance: Employees may be hesitant to adopt new technologies.</a:t>
            </a:r>
            <a:endParaRPr sz="1700">
              <a:solidFill>
                <a:srgbClr val="24292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4292E"/>
                </a:solidFill>
              </a:rPr>
              <a:t>3. Data Security and Compliance: Ensuring strict adherence to data protection regulations.</a:t>
            </a:r>
            <a:endParaRPr sz="1700">
              <a:solidFill>
                <a:srgbClr val="24292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4292E"/>
                </a:solidFill>
              </a:rPr>
              <a:t>4. Dependence on Technology: Risk of reduced human problem-solving skills.</a:t>
            </a:r>
            <a:endParaRPr sz="1700">
              <a:solidFill>
                <a:srgbClr val="24292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4292E"/>
                </a:solidFill>
              </a:rPr>
              <a:t>5. Quality Control: Need for accurate and fair AI outputs to maintain trust.</a:t>
            </a:r>
            <a:endParaRPr sz="1700">
              <a:solidFill>
                <a:srgbClr val="24292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/>
          <p:nvPr>
            <p:ph type="ctrTitle"/>
          </p:nvPr>
        </p:nvSpPr>
        <p:spPr>
          <a:xfrm>
            <a:off x="96875" y="13145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Improved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Customer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Workflow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7" name="Google Shape;127;p35"/>
          <p:cNvSpPr/>
          <p:nvPr/>
        </p:nvSpPr>
        <p:spPr>
          <a:xfrm>
            <a:off x="-25" y="822225"/>
            <a:ext cx="9144000" cy="43212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Customer Inquiry Submission</a:t>
            </a:r>
            <a:r>
              <a:rPr lang="en" sz="1800"/>
              <a:t>: Inquiries via email, phone, chat, and social media.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Automated Ticket Creation</a:t>
            </a:r>
            <a:r>
              <a:rPr lang="en" sz="1800"/>
              <a:t>: AI logs and categorizes inquiries automatically.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Hierarchical Routing with AI</a:t>
            </a:r>
            <a:r>
              <a:rPr lang="en" sz="1800"/>
              <a:t>: Intelligent routing to appropriate CSRs based on -expertise and workload.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Personalized Acknowledgment</a:t>
            </a:r>
            <a:r>
              <a:rPr lang="en" sz="1800"/>
              <a:t>: CSRs send tailored acknowledgment emails with -estimated resolution times.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AI-Driven Issue Investigation</a:t>
            </a:r>
            <a:r>
              <a:rPr lang="en" sz="1800"/>
              <a:t>: Agents access knowledge bases with AI assistance -for quick resolutions.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Complex Issue Handling</a:t>
            </a:r>
            <a:r>
              <a:rPr lang="en" sz="1800"/>
              <a:t>: AI suggests escalation for unresolved issues.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Real-Time Updates:</a:t>
            </a:r>
            <a:r>
              <a:rPr lang="en" sz="1800"/>
              <a:t> Automated follow-ups keep customers informed.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Feedback Collection:</a:t>
            </a:r>
            <a:r>
              <a:rPr lang="en" sz="1800"/>
              <a:t> Post-resolution surveys gather customer insights.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</a:t>
            </a:r>
            <a:r>
              <a:rPr b="1" lang="en" sz="1800"/>
              <a:t>Ongoing Learning</a:t>
            </a:r>
            <a:r>
              <a:rPr lang="en" sz="1800"/>
              <a:t>: AI analyzes interactions to continuously refine support processes.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 txBox="1"/>
          <p:nvPr>
            <p:ph type="ctrTitle"/>
          </p:nvPr>
        </p:nvSpPr>
        <p:spPr>
          <a:xfrm>
            <a:off x="2471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Updated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Workflow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with AI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3" name="Google Shape;133;p36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134" name="Google Shape;134;p36" title="Screenshot 2025-12-02 1723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9975"/>
            <a:ext cx="9144000" cy="359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7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Recommendations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/ Next Steps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1" name="Google Shape;141;p37"/>
          <p:cNvSpPr txBox="1"/>
          <p:nvPr/>
        </p:nvSpPr>
        <p:spPr>
          <a:xfrm>
            <a:off x="96950" y="1474225"/>
            <a:ext cx="90471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</a:t>
            </a:r>
            <a:r>
              <a:rPr b="1" lang="en" sz="2000"/>
              <a:t>Conduct a Pilot Program:</a:t>
            </a:r>
            <a:r>
              <a:rPr lang="en" sz="2000"/>
              <a:t> Test AI tools in a controlled environment before full implementation.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</a:t>
            </a:r>
            <a:r>
              <a:rPr b="1" lang="en" sz="2000"/>
              <a:t>Invest in Training:</a:t>
            </a:r>
            <a:r>
              <a:rPr lang="en" sz="2000"/>
              <a:t> Provide comprehensive training for staff to enhance familiarity with AI tools.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</a:t>
            </a:r>
            <a:r>
              <a:rPr b="1" lang="en" sz="2000"/>
              <a:t> Ensure Data Protection:</a:t>
            </a:r>
            <a:r>
              <a:rPr lang="en" sz="2000"/>
              <a:t> Develop robust security protocols and regulatory compliance measures.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4. </a:t>
            </a:r>
            <a:r>
              <a:rPr b="1" lang="en" sz="2000"/>
              <a:t>Set Clear Metrics for Success:</a:t>
            </a:r>
            <a:r>
              <a:rPr lang="en" sz="2000"/>
              <a:t> Establish KPIs to evaluate AI integration effectiveness.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5. </a:t>
            </a:r>
            <a:r>
              <a:rPr b="1" lang="en" sz="2000"/>
              <a:t>Encourage Continuous Feedback:</a:t>
            </a:r>
            <a:r>
              <a:rPr lang="en" sz="2000"/>
              <a:t> Foster a culture of feedback to inform ongoing improvements.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8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38"/>
          <p:cNvSpPr txBox="1"/>
          <p:nvPr>
            <p:ph idx="1" type="subTitle"/>
          </p:nvPr>
        </p:nvSpPr>
        <p:spPr>
          <a:xfrm>
            <a:off x="96875" y="1859250"/>
            <a:ext cx="8520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Integrating AI tools into customer service is a strategic opportunity to enhance operational efficiency and improve customer satisfaction. By leveraging systems like Zendesk, Freshdesk, and Salesforce Service Cloud, the company can address current challenges and create a more responsive and effective customer service experience.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