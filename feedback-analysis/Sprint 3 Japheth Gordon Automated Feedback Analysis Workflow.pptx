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Ubuntu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Inter ExtraBold"/>
      <p:bold r:id="rId24"/>
      <p:boldItalic r:id="rId25"/>
    </p:embeddedFont>
    <p:embeddedFont>
      <p:font typeface="Inter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InterExtraBold-bold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InterMedium-regular.fntdata"/><Relationship Id="rId25" Type="http://schemas.openxmlformats.org/officeDocument/2006/relationships/font" Target="fonts/InterExtraBold-boldItalic.fntdata"/><Relationship Id="rId28" Type="http://schemas.openxmlformats.org/officeDocument/2006/relationships/font" Target="fonts/InterMedium-italic.fntdata"/><Relationship Id="rId27" Type="http://schemas.openxmlformats.org/officeDocument/2006/relationships/font" Target="fonts/Inter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buntu-bold.fntdata"/><Relationship Id="rId16" Type="http://schemas.openxmlformats.org/officeDocument/2006/relationships/font" Target="fonts/Ubuntu-regular.fntdata"/><Relationship Id="rId19" Type="http://schemas.openxmlformats.org/officeDocument/2006/relationships/font" Target="fonts/Ubuntu-boldItalic.fntdata"/><Relationship Id="rId18" Type="http://schemas.openxmlformats.org/officeDocument/2006/relationships/font" Target="fonts/Ubuntu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e7cf68d7d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e7cf68d7d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04073b74c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04073b74c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e7cf68d7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e7cf68d7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e7cf68d7d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e7cf68d7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e7cf68d7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e7cf68d7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456a37a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456a37a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456a37a6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456a37a6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456a37a6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456a37a6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e7cf68d7d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e7cf68d7d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e7cf68d7d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6e7cf68d7d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(4 people)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2F1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https://drive.google.com/file/d/1SA301H-QatYvb6ha_CsMcjbGtVZ__KVz/view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idx="4294967295" type="ctrTitle"/>
          </p:nvPr>
        </p:nvSpPr>
        <p:spPr>
          <a:xfrm>
            <a:off x="64008" y="638300"/>
            <a:ext cx="8520600" cy="2135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Automated Feedback Analysis Workflow</a:t>
            </a:r>
            <a:endParaRPr sz="5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Japheth Gordon</a:t>
            </a: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83" name="Google Shape;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8"/>
          <p:cNvSpPr txBox="1"/>
          <p:nvPr>
            <p:ph idx="4294967295" type="subTitle"/>
          </p:nvPr>
        </p:nvSpPr>
        <p:spPr>
          <a:xfrm>
            <a:off x="152400" y="4600950"/>
            <a:ext cx="868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A2A2A"/>
                </a:solidFill>
                <a:latin typeface="Inter Medium"/>
                <a:ea typeface="Inter Medium"/>
                <a:cs typeface="Inter Medium"/>
                <a:sym typeface="Inter Medium"/>
              </a:rPr>
              <a:t>AI Automation | Project 3</a:t>
            </a:r>
            <a:endParaRPr sz="1200">
              <a:solidFill>
                <a:srgbClr val="2A2A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9"/>
          <p:cNvSpPr txBox="1"/>
          <p:nvPr>
            <p:ph idx="4294967295" type="ctrTitle"/>
          </p:nvPr>
        </p:nvSpPr>
        <p:spPr>
          <a:xfrm>
            <a:off x="96875" y="424975"/>
            <a:ext cx="87516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Automated workflow using: Make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1" name="Google Shape;91;p29"/>
          <p:cNvSpPr txBox="1"/>
          <p:nvPr/>
        </p:nvSpPr>
        <p:spPr>
          <a:xfrm>
            <a:off x="161775" y="1167625"/>
            <a:ext cx="85206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2"/>
                </a:solidFill>
              </a:rPr>
              <a:t>Thank you for joining us today. This presentation will:</a:t>
            </a:r>
            <a:endParaRPr b="1"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Show the automation process using Make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Explain in detail the process and functions of that create the automation flow.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Project link.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https://drive.google.com/file/d/1SA301H-QatYvb6ha_CsMcjbGtVZ__KVz/view?usp=sharing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Automation workflow: MAKE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7" name="Google Shape;97;p30"/>
          <p:cNvSpPr txBox="1"/>
          <p:nvPr/>
        </p:nvSpPr>
        <p:spPr>
          <a:xfrm>
            <a:off x="121800" y="1222250"/>
            <a:ext cx="8829900" cy="3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chemeClr val="dk1"/>
                </a:solidFill>
                <a:highlight>
                  <a:schemeClr val="lt2"/>
                </a:highlight>
                <a:latin typeface="Ubuntu"/>
                <a:ea typeface="Ubuntu"/>
                <a:cs typeface="Ubuntu"/>
                <a:sym typeface="Ubuntu"/>
              </a:rPr>
              <a:t>Introduction to Make.com</a:t>
            </a:r>
            <a:endParaRPr b="1" sz="2600">
              <a:solidFill>
                <a:schemeClr val="dk1"/>
              </a:solidFill>
              <a:highlight>
                <a:schemeClr val="lt2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2"/>
                </a:highlight>
                <a:latin typeface="Ubuntu"/>
                <a:ea typeface="Ubuntu"/>
                <a:cs typeface="Ubuntu"/>
                <a:sym typeface="Ubuntu"/>
              </a:rPr>
              <a:t>What is Make.com?</a:t>
            </a:r>
            <a:endParaRPr sz="1600">
              <a:solidFill>
                <a:schemeClr val="dk1"/>
              </a:solidFill>
              <a:highlight>
                <a:schemeClr val="lt2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buntu"/>
              <a:buChar char="●"/>
            </a:pPr>
            <a:r>
              <a:rPr lang="en" sz="1600">
                <a:solidFill>
                  <a:schemeClr val="dk1"/>
                </a:solidFill>
                <a:highlight>
                  <a:schemeClr val="lt2"/>
                </a:highlight>
                <a:latin typeface="Ubuntu"/>
                <a:ea typeface="Ubuntu"/>
                <a:cs typeface="Ubuntu"/>
                <a:sym typeface="Ubuntu"/>
              </a:rPr>
              <a:t>A no-code automation platform enabling seamless connections between apps and services.</a:t>
            </a:r>
            <a:endParaRPr sz="1600">
              <a:solidFill>
                <a:schemeClr val="dk1"/>
              </a:solidFill>
              <a:highlight>
                <a:schemeClr val="lt2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lt2"/>
                </a:highlight>
                <a:latin typeface="Ubuntu"/>
                <a:ea typeface="Ubuntu"/>
                <a:cs typeface="Ubuntu"/>
                <a:sym typeface="Ubuntu"/>
              </a:rPr>
              <a:t>Key Features:</a:t>
            </a:r>
            <a:endParaRPr sz="1600">
              <a:solidFill>
                <a:schemeClr val="dk1"/>
              </a:solidFill>
              <a:highlight>
                <a:schemeClr val="lt2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buntu"/>
              <a:buChar char="●"/>
            </a:pPr>
            <a:r>
              <a:rPr lang="en" sz="1600">
                <a:solidFill>
                  <a:schemeClr val="dk1"/>
                </a:solidFill>
                <a:highlight>
                  <a:schemeClr val="lt2"/>
                </a:highlight>
                <a:latin typeface="Ubuntu"/>
                <a:ea typeface="Ubuntu"/>
                <a:cs typeface="Ubuntu"/>
                <a:sym typeface="Ubuntu"/>
              </a:rPr>
              <a:t>Visual Interface: Build automated workflows using an intuitive drag-and-drop approach.</a:t>
            </a:r>
            <a:endParaRPr sz="1600">
              <a:solidFill>
                <a:schemeClr val="dk1"/>
              </a:solidFill>
              <a:highlight>
                <a:schemeClr val="lt2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buntu"/>
              <a:buChar char="●"/>
            </a:pPr>
            <a:r>
              <a:rPr lang="en" sz="1600">
                <a:solidFill>
                  <a:schemeClr val="dk1"/>
                </a:solidFill>
                <a:highlight>
                  <a:schemeClr val="lt2"/>
                </a:highlight>
                <a:latin typeface="Ubuntu"/>
                <a:ea typeface="Ubuntu"/>
                <a:cs typeface="Ubuntu"/>
                <a:sym typeface="Ubuntu"/>
              </a:rPr>
              <a:t>Scenario Design: Create “scenarios” to automate data movement and actions between tools.</a:t>
            </a:r>
            <a:endParaRPr sz="1600">
              <a:solidFill>
                <a:schemeClr val="dk1"/>
              </a:solidFill>
              <a:highlight>
                <a:schemeClr val="lt2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buntu"/>
              <a:buChar char="●"/>
            </a:pPr>
            <a:r>
              <a:rPr lang="en" sz="1600">
                <a:solidFill>
                  <a:schemeClr val="dk1"/>
                </a:solidFill>
                <a:highlight>
                  <a:schemeClr val="lt2"/>
                </a:highlight>
                <a:latin typeface="Ubuntu"/>
                <a:ea typeface="Ubuntu"/>
                <a:cs typeface="Ubuntu"/>
                <a:sym typeface="Ubuntu"/>
              </a:rPr>
              <a:t>Automation Made Easy: Set specific triggers to initiate actions without the need for coding.</a:t>
            </a:r>
            <a:endParaRPr sz="1600">
              <a:solidFill>
                <a:schemeClr val="dk1"/>
              </a:solidFill>
              <a:highlight>
                <a:schemeClr val="lt2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 txBox="1"/>
          <p:nvPr>
            <p:ph type="ctrTitle"/>
          </p:nvPr>
        </p:nvSpPr>
        <p:spPr>
          <a:xfrm>
            <a:off x="96875" y="28372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Workflow in action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3" name="Google Shape;103;p31"/>
          <p:cNvSpPr txBox="1"/>
          <p:nvPr/>
        </p:nvSpPr>
        <p:spPr>
          <a:xfrm>
            <a:off x="270125" y="1084125"/>
            <a:ext cx="8174100" cy="9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Our workflow </a:t>
            </a:r>
            <a:r>
              <a:rPr lang="en" sz="1800"/>
              <a:t>starts</a:t>
            </a:r>
            <a:r>
              <a:rPr lang="en" sz="1800"/>
              <a:t> after </a:t>
            </a:r>
            <a:r>
              <a:rPr lang="en" sz="1800"/>
              <a:t>customers</a:t>
            </a:r>
            <a:r>
              <a:rPr lang="en" sz="1800"/>
              <a:t> </a:t>
            </a:r>
            <a:r>
              <a:rPr lang="en" sz="1800"/>
              <a:t>submit</a:t>
            </a:r>
            <a:r>
              <a:rPr lang="en" sz="1800"/>
              <a:t> </a:t>
            </a:r>
            <a:r>
              <a:rPr lang="en" sz="1800"/>
              <a:t>their</a:t>
            </a:r>
            <a:r>
              <a:rPr lang="en" sz="1800"/>
              <a:t> replies via Google forms. These answers will also be loaded on Google sheets to start the </a:t>
            </a:r>
            <a:r>
              <a:rPr lang="en" sz="1800"/>
              <a:t>organization</a:t>
            </a:r>
            <a:r>
              <a:rPr lang="en" sz="1800"/>
              <a:t> process. Then the fun begins.</a:t>
            </a:r>
            <a:endParaRPr sz="1800"/>
          </a:p>
        </p:txBody>
      </p:sp>
      <p:pic>
        <p:nvPicPr>
          <p:cNvPr id="104" name="Google Shape;104;p31" title="Screenshot 2025-12-15 1119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850" y="2296425"/>
            <a:ext cx="2845100" cy="292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1" title="Screenshot 2025-12-15 1216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2150" y="2296425"/>
            <a:ext cx="3616196" cy="27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2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MAKE: Workflow diagram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11" name="Google Shape;111;p32" title="Screenshot 2025-12-15 1116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77775"/>
            <a:ext cx="8459657" cy="361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3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Automation workflow: MAKE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17" name="Google Shape;117;p33" title="Screenshot 2026-01-02 0801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1375" y="1377775"/>
            <a:ext cx="4490224" cy="262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3" title="Screenshot 2026-01-02 0759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77775"/>
            <a:ext cx="4196579" cy="275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Automation workflow: MAKE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24" name="Google Shape;124;p34" title="Screenshot 2026-01-02 0801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77775"/>
            <a:ext cx="6237013" cy="36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Automation workflow: MAKE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30" name="Google Shape;130;p35" title="Screenshot 2026-01-02 0801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77775"/>
            <a:ext cx="3608429" cy="36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35" title="Screenshot 2026-01-02 0801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3229" y="1377775"/>
            <a:ext cx="4023931" cy="361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6"/>
          <p:cNvSpPr txBox="1"/>
          <p:nvPr>
            <p:ph type="ctrTitle"/>
          </p:nvPr>
        </p:nvSpPr>
        <p:spPr>
          <a:xfrm>
            <a:off x="96875" y="3487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MAKE flow Breakdown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37" name="Google Shape;137;p36"/>
          <p:cNvSpPr txBox="1"/>
          <p:nvPr/>
        </p:nvSpPr>
        <p:spPr>
          <a:xfrm>
            <a:off x="275275" y="1149175"/>
            <a:ext cx="8448000" cy="28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Through AI automation, Make seamlessly allows us to gather information, </a:t>
            </a:r>
            <a:r>
              <a:rPr lang="en" sz="1600"/>
              <a:t>organize</a:t>
            </a:r>
            <a:r>
              <a:rPr lang="en" sz="1600"/>
              <a:t> and </a:t>
            </a:r>
            <a:r>
              <a:rPr lang="en" sz="1600"/>
              <a:t>categorize user inquiries</a:t>
            </a:r>
            <a:r>
              <a:rPr lang="en" sz="1600"/>
              <a:t> 24/7 with great accuracy and </a:t>
            </a:r>
            <a:r>
              <a:rPr lang="en" sz="1600"/>
              <a:t>efficacy</a:t>
            </a:r>
            <a:r>
              <a:rPr lang="en" sz="1600"/>
              <a:t>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Google</a:t>
            </a:r>
            <a:r>
              <a:rPr lang="en"/>
              <a:t> forms module will “Watch” for new </a:t>
            </a:r>
            <a:r>
              <a:rPr lang="en"/>
              <a:t>information</a:t>
            </a:r>
            <a:r>
              <a:rPr lang="en"/>
              <a:t> sending to our AI magic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Google Gemini AI will decipher </a:t>
            </a:r>
            <a:r>
              <a:rPr lang="en"/>
              <a:t>sentiment</a:t>
            </a:r>
            <a:r>
              <a:rPr lang="en"/>
              <a:t> and </a:t>
            </a:r>
            <a:r>
              <a:rPr lang="en"/>
              <a:t>develop</a:t>
            </a:r>
            <a:r>
              <a:rPr lang="en"/>
              <a:t> short </a:t>
            </a:r>
            <a:r>
              <a:rPr lang="en"/>
              <a:t>summary.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JSON module will parse and convert this data for Google sheets integration.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Finiall Google sheets will search for rows as well as update with our Customer sentiment and and summery in real time.</a:t>
            </a:r>
            <a:endParaRPr/>
          </a:p>
        </p:txBody>
      </p:sp>
      <p:sp>
        <p:nvSpPr>
          <p:cNvPr id="138" name="Google Shape;138;p36"/>
          <p:cNvSpPr txBox="1"/>
          <p:nvPr/>
        </p:nvSpPr>
        <p:spPr>
          <a:xfrm>
            <a:off x="219650" y="4082175"/>
            <a:ext cx="84480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Benefits: Gaining time to focus on other tasks  and increasing </a:t>
            </a:r>
            <a:r>
              <a:rPr b="1" lang="en"/>
              <a:t>efficiency</a:t>
            </a:r>
            <a:r>
              <a:rPr b="1" lang="en"/>
              <a:t> 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7"/>
          <p:cNvSpPr txBox="1"/>
          <p:nvPr>
            <p:ph type="ctrTitle"/>
          </p:nvPr>
        </p:nvSpPr>
        <p:spPr>
          <a:xfrm>
            <a:off x="2471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Optional extras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4" name="Google Shape;144;p37"/>
          <p:cNvSpPr txBox="1"/>
          <p:nvPr/>
        </p:nvSpPr>
        <p:spPr>
          <a:xfrm>
            <a:off x="247175" y="1331300"/>
            <a:ext cx="863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</a:rPr>
              <a:t>Additional modules can always be added including, Google email, Slack 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</a:rPr>
              <a:t>notifications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</a:rPr>
              <a:t> etc. The possibilities are endless.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45" name="Google Shape;145;p37"/>
          <p:cNvSpPr txBox="1"/>
          <p:nvPr/>
        </p:nvSpPr>
        <p:spPr>
          <a:xfrm>
            <a:off x="329400" y="2151325"/>
            <a:ext cx="8438400" cy="26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Given more time, Options like these are always great additions depending on </a:t>
            </a:r>
            <a:r>
              <a:rPr b="1" lang="en"/>
              <a:t>specific</a:t>
            </a:r>
            <a:r>
              <a:rPr b="1" lang="en"/>
              <a:t> needs.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Google emails for example can send thank you emails and instantly notify  when </a:t>
            </a:r>
            <a:r>
              <a:rPr lang="en"/>
              <a:t>negative</a:t>
            </a:r>
            <a:r>
              <a:rPr lang="en"/>
              <a:t> </a:t>
            </a:r>
            <a:r>
              <a:rPr lang="en"/>
              <a:t>responses</a:t>
            </a:r>
            <a:r>
              <a:rPr lang="en"/>
              <a:t> are loggeds ensuring swift communication.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Slack can instantly send notifications to team </a:t>
            </a:r>
            <a:r>
              <a:rPr lang="en"/>
              <a:t>members and keep all departments updated strengthening the communication.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Make hosts thousands of apps that can be used to automate almost anything.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