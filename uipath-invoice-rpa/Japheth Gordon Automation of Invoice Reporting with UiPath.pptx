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3" r:id="rId3"/>
    <p:sldMasterId id="2147483674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embeddedFontLst>
    <p:embeddedFont>
      <p:font typeface="Inter"/>
      <p:regular r:id="rId12"/>
      <p:bold r:id="rId13"/>
      <p:italic r:id="rId14"/>
      <p:boldItalic r:id="rId15"/>
    </p:embeddedFont>
    <p:embeddedFont>
      <p:font typeface="Inter ExtraBold"/>
      <p:bold r:id="rId16"/>
      <p:boldItalic r:id="rId17"/>
    </p:embeddedFont>
    <p:embeddedFont>
      <p:font typeface="Inter Medium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Medium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schemas.openxmlformats.org/officeDocument/2006/relationships/font" Target="fonts/InterMedium-boldItalic.fntdata"/><Relationship Id="rId13" Type="http://schemas.openxmlformats.org/officeDocument/2006/relationships/font" Target="fonts/Inter-bold.fntdata"/><Relationship Id="rId12" Type="http://schemas.openxmlformats.org/officeDocument/2006/relationships/font" Target="fonts/Inter-regular.fntdata"/><Relationship Id="rId1" Type="http://schemas.openxmlformats.org/officeDocument/2006/relationships/theme" Target="theme/theme3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4.xml"/><Relationship Id="rId15" Type="http://schemas.openxmlformats.org/officeDocument/2006/relationships/font" Target="fonts/Inter-boldItalic.fntdata"/><Relationship Id="rId14" Type="http://schemas.openxmlformats.org/officeDocument/2006/relationships/font" Target="fonts/Inter-italic.fntdata"/><Relationship Id="rId17" Type="http://schemas.openxmlformats.org/officeDocument/2006/relationships/font" Target="fonts/InterExtraBold-boldItalic.fntdata"/><Relationship Id="rId16" Type="http://schemas.openxmlformats.org/officeDocument/2006/relationships/font" Target="fonts/InterExtraBold-bold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InterMedium-bold.fntdata"/><Relationship Id="rId6" Type="http://schemas.openxmlformats.org/officeDocument/2006/relationships/slide" Target="slides/slide1.xml"/><Relationship Id="rId18" Type="http://schemas.openxmlformats.org/officeDocument/2006/relationships/font" Target="fonts/InterMedium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6e7cf68d7d_0_4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6e7cf68d7d_0_4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04073b74c3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04073b74c3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c0626fd6b0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c0626fd6b0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6e7cf68d7d_0_1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6e7cf68d7d_0_1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76dc00fcd2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76dc00fcd2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6e7cf68d7d_0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6e7cf68d7d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">
  <p:cSld name="TITLE_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2">
  <p:cSld name="TITLE_2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 (4 people)" type="secHead">
  <p:cSld name="SECTION_HEADER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3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4.xml"/><Relationship Id="rId10" Type="http://schemas.openxmlformats.org/officeDocument/2006/relationships/slideLayout" Target="../slideLayouts/slideLayout23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0.xml"/><Relationship Id="rId8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F2F1EE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Relationship Id="rId4" Type="http://schemas.openxmlformats.org/officeDocument/2006/relationships/image" Target="../media/image4.png"/><Relationship Id="rId5" Type="http://schemas.openxmlformats.org/officeDocument/2006/relationships/image" Target="../media/image3.png"/><Relationship Id="rId6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8F60"/>
        </a:solid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8"/>
          <p:cNvSpPr txBox="1"/>
          <p:nvPr>
            <p:ph idx="4294967295" type="ctrTitle"/>
          </p:nvPr>
        </p:nvSpPr>
        <p:spPr>
          <a:xfrm>
            <a:off x="64008" y="638300"/>
            <a:ext cx="8520600" cy="21354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5800">
                <a:solidFill>
                  <a:srgbClr val="1A1A1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Automation of Invoice Reporting with UiPath</a:t>
            </a:r>
            <a:endParaRPr sz="5800">
              <a:solidFill>
                <a:srgbClr val="1A1A1A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Japheth Gordon</a:t>
            </a:r>
            <a:endParaRPr sz="6000">
              <a:solidFill>
                <a:srgbClr val="1A1A1A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pic>
        <p:nvPicPr>
          <p:cNvPr id="83" name="Google Shape;83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600" y="228600"/>
            <a:ext cx="866775" cy="194225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28"/>
          <p:cNvSpPr txBox="1"/>
          <p:nvPr>
            <p:ph idx="4294967295" type="subTitle"/>
          </p:nvPr>
        </p:nvSpPr>
        <p:spPr>
          <a:xfrm>
            <a:off x="152400" y="4600950"/>
            <a:ext cx="8686800" cy="3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200">
                <a:solidFill>
                  <a:srgbClr val="2A2A2A"/>
                </a:solidFill>
                <a:latin typeface="Inter Medium"/>
                <a:ea typeface="Inter Medium"/>
                <a:cs typeface="Inter Medium"/>
                <a:sym typeface="Inter Medium"/>
              </a:rPr>
              <a:t>AI Automation | Project 6</a:t>
            </a:r>
            <a:endParaRPr sz="1200">
              <a:solidFill>
                <a:srgbClr val="2A2A2A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600" y="228600"/>
            <a:ext cx="866775" cy="194225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29"/>
          <p:cNvSpPr txBox="1"/>
          <p:nvPr>
            <p:ph idx="4294967295" type="ctrTitle"/>
          </p:nvPr>
        </p:nvSpPr>
        <p:spPr>
          <a:xfrm>
            <a:off x="104350" y="63975"/>
            <a:ext cx="8520600" cy="80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rgbClr val="1A1A1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Invoice Automation Workflow</a:t>
            </a:r>
            <a:endParaRPr sz="4000">
              <a:solidFill>
                <a:srgbClr val="1A1A1A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91" name="Google Shape;91;p29"/>
          <p:cNvSpPr txBox="1"/>
          <p:nvPr/>
        </p:nvSpPr>
        <p:spPr>
          <a:xfrm>
            <a:off x="155250" y="695300"/>
            <a:ext cx="8833500" cy="41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Step 1: Read Invoices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>
                <a:solidFill>
                  <a:schemeClr val="dk1"/>
                </a:solidFill>
              </a:rPr>
              <a:t>Connect Google Drive folder → Document Understanding extracts: invoice number, supplier, due date, total amount from PDFs</a:t>
            </a:r>
            <a:endParaRPr sz="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Step 2: Confidence Check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>
                <a:solidFill>
                  <a:schemeClr val="dk1"/>
                </a:solidFill>
              </a:rPr>
              <a:t>If invoice number confidence &lt; 0.7 → Log warning + skip invoice</a:t>
            </a:r>
            <a:endParaRPr sz="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Step 3: Filter Dates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>
                <a:solidFill>
                  <a:schemeClr val="dk1"/>
                </a:solidFill>
              </a:rPr>
              <a:t>Only process invoices due ≤ September 22, 2025</a:t>
            </a:r>
            <a:endParaRPr sz="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Step 4: AI Description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>
                <a:solidFill>
                  <a:schemeClr val="dk1"/>
                </a:solidFill>
              </a:rPr>
              <a:t>GenAI generates 15-word purchase summary (e.g., "Stage rental and catering services")</a:t>
            </a:r>
            <a:endParaRPr sz="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Step 5: Write to Sheets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>
                <a:solidFill>
                  <a:schemeClr val="dk1"/>
                </a:solidFill>
              </a:rPr>
              <a:t>Append valid invoices → 5 columns: number, supplier, date, amount, description</a:t>
            </a:r>
            <a:endParaRPr sz="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Step 6: Test Results 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✅ 5 rows in Google Sheet</a:t>
            </a:r>
            <a:r>
              <a:rPr lang="en" sz="12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✅ All columns populated✅ Low-confidence warnings logged⏱️ Saves 2-4 hours/week of work</a:t>
            </a:r>
            <a:endParaRPr sz="12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0"/>
          <p:cNvSpPr txBox="1"/>
          <p:nvPr/>
        </p:nvSpPr>
        <p:spPr>
          <a:xfrm>
            <a:off x="176250" y="134325"/>
            <a:ext cx="8791500" cy="88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Invoice Automation workflow</a:t>
            </a:r>
            <a:endParaRPr b="1" sz="4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97" name="Google Shape;97;p30" title="Screenshot 2026-02-23 20524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250" y="1113798"/>
            <a:ext cx="3590175" cy="3817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30" title="Screenshot 2026-02-23 205345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12850" y="1113800"/>
            <a:ext cx="2454775" cy="1958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30" title="Screenshot 2026-02-23 205416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912850" y="3248849"/>
            <a:ext cx="2454775" cy="16824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30" title="Screenshot 2026-02-23 205521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608050" y="1671755"/>
            <a:ext cx="2258900" cy="27015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1EE"/>
        </a:solid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1"/>
          <p:cNvSpPr txBox="1"/>
          <p:nvPr>
            <p:ph type="ctrTitle"/>
          </p:nvPr>
        </p:nvSpPr>
        <p:spPr>
          <a:xfrm>
            <a:off x="96875" y="424975"/>
            <a:ext cx="85206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rgbClr val="1A1A1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Low confidence messages</a:t>
            </a:r>
            <a:endParaRPr sz="4000">
              <a:solidFill>
                <a:srgbClr val="1A1A1A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06" name="Google Shape;106;p31"/>
          <p:cNvSpPr txBox="1"/>
          <p:nvPr>
            <p:ph idx="1" type="subTitle"/>
          </p:nvPr>
        </p:nvSpPr>
        <p:spPr>
          <a:xfrm>
            <a:off x="247175" y="4552075"/>
            <a:ext cx="8520600" cy="1089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Confidence score measures UiPath's certainty in extracted invoice numbers (0-1 scale).</a:t>
            </a:r>
            <a:br>
              <a:rPr lang="en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 0.7 threshold flags low-confidence extractions for manual review.</a:t>
            </a:r>
            <a:br>
              <a:rPr lang="en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 Prevents payment errors while auto-processing reliable invoices.</a:t>
            </a:r>
            <a:br>
              <a:rPr lang="en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 Balances speed with accuracy for finance workflows.</a:t>
            </a:r>
            <a:endParaRPr>
              <a:solidFill>
                <a:srgbClr val="1A1A1A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300">
              <a:solidFill>
                <a:srgbClr val="1A1A1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7" name="Google Shape;107;p31"/>
          <p:cNvSpPr txBox="1"/>
          <p:nvPr/>
        </p:nvSpPr>
        <p:spPr>
          <a:xfrm>
            <a:off x="247175" y="1331300"/>
            <a:ext cx="4372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highlight>
                <a:srgbClr val="FF9900"/>
              </a:highlight>
            </a:endParaRPr>
          </a:p>
        </p:txBody>
      </p:sp>
      <p:pic>
        <p:nvPicPr>
          <p:cNvPr id="108" name="Google Shape;108;p31" title="Screenshot 2026-02-22 21213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2551" y="1225376"/>
            <a:ext cx="8626774" cy="2680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1EE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2"/>
          <p:cNvSpPr txBox="1"/>
          <p:nvPr>
            <p:ph type="ctrTitle"/>
          </p:nvPr>
        </p:nvSpPr>
        <p:spPr>
          <a:xfrm>
            <a:off x="96875" y="424975"/>
            <a:ext cx="85206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rgbClr val="1A1A1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Google Sheets </a:t>
            </a:r>
            <a:r>
              <a:rPr lang="en" sz="4000">
                <a:solidFill>
                  <a:srgbClr val="1A1A1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Auto Population</a:t>
            </a:r>
            <a:endParaRPr sz="4000">
              <a:solidFill>
                <a:srgbClr val="1A1A1A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14" name="Google Shape;114;p32"/>
          <p:cNvSpPr txBox="1"/>
          <p:nvPr>
            <p:ph idx="1" type="subTitle"/>
          </p:nvPr>
        </p:nvSpPr>
        <p:spPr>
          <a:xfrm>
            <a:off x="118450" y="3501750"/>
            <a:ext cx="8520600" cy="1544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Google Sheets serves as the automated output destination, receiving 5 columns of invoice data from UiPath in real-time.</a:t>
            </a:r>
            <a:endParaRPr>
              <a:solidFill>
                <a:srgbClr val="1A1A1A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Finance managers instantly access due-date reports without manual entry, enabling quick filtering and cash flow tracking through cloud collaboration.</a:t>
            </a:r>
            <a:endParaRPr>
              <a:solidFill>
                <a:srgbClr val="1A1A1A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200">
              <a:solidFill>
                <a:srgbClr val="1A1A1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5" name="Google Shape;115;p32"/>
          <p:cNvSpPr txBox="1"/>
          <p:nvPr/>
        </p:nvSpPr>
        <p:spPr>
          <a:xfrm>
            <a:off x="247175" y="1331300"/>
            <a:ext cx="4372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highlight>
                <a:srgbClr val="FF9900"/>
              </a:highlight>
            </a:endParaRPr>
          </a:p>
        </p:txBody>
      </p:sp>
      <p:pic>
        <p:nvPicPr>
          <p:cNvPr id="116" name="Google Shape;116;p32" title="Screenshot 2026-02-22 21443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8450" y="1425775"/>
            <a:ext cx="8477449" cy="1692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1EE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33"/>
          <p:cNvSpPr txBox="1"/>
          <p:nvPr/>
        </p:nvSpPr>
        <p:spPr>
          <a:xfrm>
            <a:off x="408300" y="1483325"/>
            <a:ext cx="8327400" cy="32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This workflow eliminates 2-4 hours of weekly manual invoice processing per finance manager by automating PDF reading, data extraction, and description generation.</a:t>
            </a:r>
            <a:endParaRPr sz="16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Managers gain instant visibility into due payments through a clean Google Sheet, reducing errors from manual copying and eliminating the need to open/review dozens of documents.</a:t>
            </a:r>
            <a:endParaRPr sz="16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Low-confidence alerts maintain accuracy while freeing staff for strategic analysis rather than data entry, delivering faster insights for cash flow decisions.</a:t>
            </a:r>
            <a:endParaRPr sz="16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33"/>
          <p:cNvSpPr txBox="1"/>
          <p:nvPr/>
        </p:nvSpPr>
        <p:spPr>
          <a:xfrm>
            <a:off x="0" y="375525"/>
            <a:ext cx="8975100" cy="129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100">
                <a:latin typeface="Inter"/>
                <a:ea typeface="Inter"/>
                <a:cs typeface="Inter"/>
                <a:sym typeface="Inter"/>
              </a:rPr>
              <a:t>Saving Time: Finance Managers</a:t>
            </a:r>
            <a:endParaRPr b="1" sz="4100"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