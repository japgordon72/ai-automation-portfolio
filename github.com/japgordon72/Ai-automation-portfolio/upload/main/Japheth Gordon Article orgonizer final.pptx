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5143500" cy="9144000"/>
  <p:embeddedFontLst>
    <p:embeddedFont>
      <p:font typeface="Arial Black"/>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iT4v3phQluCKPI7e2Ocao4UycQ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ArialBlack-regular.fnt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 name="Shape 15"/>
        <p:cNvGrpSpPr/>
        <p:nvPr/>
      </p:nvGrpSpPr>
      <p:grpSpPr>
        <a:xfrm>
          <a:off x="0" y="0"/>
          <a:ext cx="0" cy="0"/>
          <a:chOff x="0" y="0"/>
          <a:chExt cx="0" cy="0"/>
        </a:xfrm>
      </p:grpSpPr>
      <p:sp>
        <p:nvSpPr>
          <p:cNvPr id="16" name="Google Shape;16;p1"/>
          <p:cNvSpPr/>
          <p:nvPr/>
        </p:nvSpPr>
        <p:spPr>
          <a:xfrm>
            <a:off x="508800" y="860126"/>
            <a:ext cx="8229600" cy="8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6000"/>
              <a:buFont typeface="Arial Black"/>
              <a:buNone/>
            </a:pPr>
            <a:r>
              <a:rPr b="1" i="0" lang="en-US" sz="6000" u="none" cap="none" strike="noStrike">
                <a:solidFill>
                  <a:srgbClr val="FF6B35"/>
                </a:solidFill>
                <a:latin typeface="Arial Black"/>
                <a:ea typeface="Arial Black"/>
                <a:cs typeface="Arial Black"/>
                <a:sym typeface="Arial Black"/>
              </a:rPr>
              <a:t>ARTICLE SUMMARY</a:t>
            </a:r>
            <a:endParaRPr b="0" i="0" sz="6000" u="none" cap="none" strike="noStrike">
              <a:solidFill>
                <a:schemeClr val="dk1"/>
              </a:solidFill>
              <a:latin typeface="Calibri"/>
              <a:ea typeface="Calibri"/>
              <a:cs typeface="Calibri"/>
              <a:sym typeface="Calibri"/>
            </a:endParaRPr>
          </a:p>
        </p:txBody>
      </p:sp>
      <p:sp>
        <p:nvSpPr>
          <p:cNvPr id="17" name="Google Shape;17;p1"/>
          <p:cNvSpPr/>
          <p:nvPr/>
        </p:nvSpPr>
        <p:spPr>
          <a:xfrm>
            <a:off x="508800" y="2475355"/>
            <a:ext cx="82296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000"/>
              <a:buFont typeface="Arial Black"/>
              <a:buNone/>
            </a:pPr>
            <a:r>
              <a:rPr b="1" i="0" lang="en-US" sz="6000" u="none" cap="none" strike="noStrike">
                <a:solidFill>
                  <a:srgbClr val="FFFFFF"/>
                </a:solidFill>
                <a:latin typeface="Arial Black"/>
                <a:ea typeface="Arial Black"/>
                <a:cs typeface="Arial Black"/>
                <a:sym typeface="Arial Black"/>
              </a:rPr>
              <a:t>ORGANIZER</a:t>
            </a:r>
            <a:endParaRPr b="0" i="0" sz="6000" u="none" cap="none" strike="noStrike">
              <a:solidFill>
                <a:schemeClr val="dk1"/>
              </a:solidFill>
              <a:latin typeface="Calibri"/>
              <a:ea typeface="Calibri"/>
              <a:cs typeface="Calibri"/>
              <a:sym typeface="Calibri"/>
            </a:endParaRPr>
          </a:p>
        </p:txBody>
      </p:sp>
      <p:sp>
        <p:nvSpPr>
          <p:cNvPr id="18" name="Google Shape;18;p1"/>
          <p:cNvSpPr/>
          <p:nvPr/>
        </p:nvSpPr>
        <p:spPr>
          <a:xfrm>
            <a:off x="457200" y="347472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8C42"/>
              </a:buClr>
              <a:buSzPts val="2400"/>
              <a:buFont typeface="Arial"/>
              <a:buNone/>
            </a:pPr>
            <a:r>
              <a:rPr b="0" i="1" lang="en-US" sz="2400" u="none" cap="none" strike="noStrike">
                <a:solidFill>
                  <a:srgbClr val="FF8C42"/>
                </a:solidFill>
                <a:latin typeface="Arial"/>
                <a:ea typeface="Arial"/>
                <a:cs typeface="Arial"/>
                <a:sym typeface="Arial"/>
              </a:rPr>
              <a:t>AI-Powered Knowledge Management Automation</a:t>
            </a:r>
            <a:endParaRPr b="0" i="0" sz="2400" u="none" cap="none" strike="noStrike">
              <a:solidFill>
                <a:schemeClr val="dk1"/>
              </a:solidFill>
              <a:latin typeface="Calibri"/>
              <a:ea typeface="Calibri"/>
              <a:cs typeface="Calibri"/>
              <a:sym typeface="Calibri"/>
            </a:endParaRPr>
          </a:p>
        </p:txBody>
      </p:sp>
      <p:sp>
        <p:nvSpPr>
          <p:cNvPr id="19" name="Google Shape;19;p1"/>
          <p:cNvSpPr/>
          <p:nvPr/>
        </p:nvSpPr>
        <p:spPr>
          <a:xfrm>
            <a:off x="457200" y="438912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Capstone Project | TripleTen Program</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0" y="4960620"/>
            <a:ext cx="9144000" cy="18288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txBox="1"/>
          <p:nvPr/>
        </p:nvSpPr>
        <p:spPr>
          <a:xfrm>
            <a:off x="129025" y="172025"/>
            <a:ext cx="1462200" cy="5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Japheth Gordon</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THE PROBLEM 📚</a:t>
            </a:r>
            <a:endParaRPr b="0" i="0" sz="4400" u="none" cap="none" strike="noStrike">
              <a:solidFill>
                <a:schemeClr val="dk1"/>
              </a:solidFill>
              <a:latin typeface="Calibri"/>
              <a:ea typeface="Calibri"/>
              <a:cs typeface="Calibri"/>
              <a:sym typeface="Calibri"/>
            </a:endParaRPr>
          </a:p>
        </p:txBody>
      </p:sp>
      <p:sp>
        <p:nvSpPr>
          <p:cNvPr id="29" name="Google Shape;29;p2"/>
          <p:cNvSpPr/>
          <p:nvPr/>
        </p:nvSpPr>
        <p:spPr>
          <a:xfrm>
            <a:off x="457200" y="1371600"/>
            <a:ext cx="8229600" cy="3200400"/>
          </a:xfrm>
          <a:prstGeom prst="rect">
            <a:avLst/>
          </a:prstGeom>
          <a:noFill/>
          <a:ln>
            <a:noFill/>
          </a:ln>
        </p:spPr>
        <p:txBody>
          <a:bodyPr anchorCtr="0" anchor="ctr" bIns="45700" lIns="91425" spcFirstLastPara="1" rIns="91425" wrap="square" tIns="45700">
            <a:noAutofit/>
          </a:bodyPr>
          <a:lstStyle/>
          <a:p>
            <a:pPr indent="0" lvl="0" marL="0" marR="0" rtl="0" algn="l">
              <a:lnSpc>
                <a:spcPct val="114285"/>
              </a:lnSpc>
              <a:spcBef>
                <a:spcPts val="0"/>
              </a:spcBef>
              <a:spcAft>
                <a:spcPts val="0"/>
              </a:spcAft>
              <a:buClr>
                <a:srgbClr val="FF6B35"/>
              </a:buClr>
              <a:buSzPts val="2800"/>
              <a:buFont typeface="Arial"/>
              <a:buNone/>
            </a:pPr>
            <a:r>
              <a:rPr b="1" i="0" lang="en-US" sz="2800" u="none" cap="none" strike="noStrike">
                <a:solidFill>
                  <a:srgbClr val="FF6B35"/>
                </a:solidFill>
                <a:latin typeface="Arial"/>
                <a:ea typeface="Arial"/>
                <a:cs typeface="Arial"/>
                <a:sym typeface="Arial"/>
              </a:rPr>
              <a:t>Information Overload 😰</a:t>
            </a:r>
            <a:endParaRPr b="0" i="0" sz="1800" u="none" cap="none" strike="noStrike">
              <a:solidFill>
                <a:schemeClr val="dk1"/>
              </a:solidFill>
              <a:latin typeface="Calibri"/>
              <a:ea typeface="Calibri"/>
              <a:cs typeface="Calibri"/>
              <a:sym typeface="Calibri"/>
            </a:endParaRPr>
          </a:p>
          <a:p>
            <a:pPr indent="0" lvl="0" marL="0" marR="0" rtl="0" algn="l">
              <a:lnSpc>
                <a:spcPct val="177777"/>
              </a:lnSpc>
              <a:spcBef>
                <a:spcPts val="0"/>
              </a:spcBef>
              <a:spcAft>
                <a:spcPts val="0"/>
              </a:spcAft>
              <a:buClr>
                <a:srgbClr val="000000"/>
              </a:buClr>
              <a:buSzPts val="1800"/>
              <a:buFont typeface="Arial"/>
              <a:buNone/>
            </a:pPr>
            <a:r>
              <a:t/>
            </a:r>
            <a:endParaRPr sz="1800"/>
          </a:p>
          <a:p>
            <a:pPr indent="-342900" lvl="0" marL="457200" marR="0" rtl="0" algn="l">
              <a:lnSpc>
                <a:spcPct val="177777"/>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Articles, books, and research pile up constantly</a:t>
            </a:r>
            <a:endParaRPr b="0" i="0" sz="1800" u="none" cap="none" strike="noStrike">
              <a:solidFill>
                <a:schemeClr val="dk1"/>
              </a:solidFill>
              <a:latin typeface="Calibri"/>
              <a:ea typeface="Calibri"/>
              <a:cs typeface="Calibri"/>
              <a:sym typeface="Calibri"/>
            </a:endParaRPr>
          </a:p>
          <a:p>
            <a:pPr indent="-342900" lvl="0" marL="457200" marR="0" rtl="0" algn="l">
              <a:lnSpc>
                <a:spcPct val="177777"/>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Key insights get buried and forgotten</a:t>
            </a:r>
            <a:endParaRPr b="0" i="0" sz="1800" u="none" cap="none" strike="noStrike">
              <a:solidFill>
                <a:schemeClr val="dk1"/>
              </a:solidFill>
              <a:latin typeface="Calibri"/>
              <a:ea typeface="Calibri"/>
              <a:cs typeface="Calibri"/>
              <a:sym typeface="Calibri"/>
            </a:endParaRPr>
          </a:p>
          <a:p>
            <a:pPr indent="-342900" lvl="0" marL="457200" marR="0" rtl="0" algn="l">
              <a:lnSpc>
                <a:spcPct val="177777"/>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No system to separate actionable vs. reference content</a:t>
            </a:r>
            <a:endParaRPr b="0" i="0" sz="1800" u="none" cap="none" strike="noStrike">
              <a:solidFill>
                <a:schemeClr val="dk1"/>
              </a:solidFill>
              <a:latin typeface="Calibri"/>
              <a:ea typeface="Calibri"/>
              <a:cs typeface="Calibri"/>
              <a:sym typeface="Calibri"/>
            </a:endParaRPr>
          </a:p>
          <a:p>
            <a:pPr indent="-342900" lvl="0" marL="457200" marR="0" rtl="0" algn="l">
              <a:lnSpc>
                <a:spcPct val="177777"/>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 Manual summarization takes 2-3 hours per week</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 name="Shape 34"/>
        <p:cNvGrpSpPr/>
        <p:nvPr/>
      </p:nvGrpSpPr>
      <p:grpSpPr>
        <a:xfrm>
          <a:off x="0" y="0"/>
          <a:ext cx="0" cy="0"/>
          <a:chOff x="0" y="0"/>
          <a:chExt cx="0" cy="0"/>
        </a:xfrm>
      </p:grpSpPr>
      <p:sp>
        <p:nvSpPr>
          <p:cNvPr id="35" name="Google Shape;35;p3"/>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4400"/>
              <a:buFont typeface="Arial Black"/>
              <a:buNone/>
            </a:pPr>
            <a:r>
              <a:rPr b="1" i="0" lang="en-US" sz="4400" u="none" cap="none" strike="noStrike">
                <a:solidFill>
                  <a:srgbClr val="FF6B35"/>
                </a:solidFill>
                <a:latin typeface="Arial Black"/>
                <a:ea typeface="Arial Black"/>
                <a:cs typeface="Arial Black"/>
                <a:sym typeface="Arial Black"/>
              </a:rPr>
              <a:t>THE SOLUTION 💡</a:t>
            </a:r>
            <a:endParaRPr b="0" i="0" sz="4400" u="none" cap="none" strike="noStrike">
              <a:solidFill>
                <a:schemeClr val="dk1"/>
              </a:solidFill>
              <a:latin typeface="Calibri"/>
              <a:ea typeface="Calibri"/>
              <a:cs typeface="Calibri"/>
              <a:sym typeface="Calibri"/>
            </a:endParaRPr>
          </a:p>
        </p:txBody>
      </p:sp>
      <p:sp>
        <p:nvSpPr>
          <p:cNvPr id="36" name="Google Shape;36;p3"/>
          <p:cNvSpPr/>
          <p:nvPr/>
        </p:nvSpPr>
        <p:spPr>
          <a:xfrm>
            <a:off x="457200" y="1574025"/>
            <a:ext cx="8229600" cy="2997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r>
              <a:rPr b="1" i="0" lang="en-US" sz="2000" u="none" cap="none" strike="noStrike">
                <a:solidFill>
                  <a:srgbClr val="FFFFFF"/>
                </a:solidFill>
                <a:latin typeface="Arial"/>
                <a:ea typeface="Arial"/>
                <a:cs typeface="Arial"/>
                <a:sym typeface="Arial"/>
              </a:rPr>
              <a:t>Automated Knowledge Management System 🚀</a:t>
            </a: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u="none" cap="none" strike="noStrike">
                <a:solidFill>
                  <a:srgbClr val="000000"/>
                </a:solidFill>
                <a:latin typeface="Arial"/>
                <a:ea typeface="Arial"/>
                <a:cs typeface="Arial"/>
                <a:sym typeface="Arial"/>
              </a:rPr>
            </a:b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2400"/>
              <a:buFont typeface="Arial"/>
              <a:buNone/>
            </a:pPr>
            <a:r>
              <a:rPr b="1"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 Submit articles via Google Form</a:t>
            </a: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u="none" cap="none" strike="noStrike">
                <a:solidFill>
                  <a:srgbClr val="000000"/>
                </a:solidFill>
                <a:latin typeface="Arial"/>
                <a:ea typeface="Arial"/>
                <a:cs typeface="Arial"/>
                <a:sym typeface="Arial"/>
              </a:rPr>
            </a:b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2400"/>
              <a:buFont typeface="Arial"/>
              <a:buNone/>
            </a:pPr>
            <a:r>
              <a:rPr b="1"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 AI extracts key takeaways and action items</a:t>
            </a: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u="none" cap="none" strike="noStrike">
                <a:solidFill>
                  <a:srgbClr val="000000"/>
                </a:solidFill>
                <a:latin typeface="Arial"/>
                <a:ea typeface="Arial"/>
                <a:cs typeface="Arial"/>
                <a:sym typeface="Arial"/>
              </a:rPr>
            </a:b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2400"/>
              <a:buFont typeface="Arial"/>
              <a:buNone/>
            </a:pPr>
            <a:r>
              <a:rPr b="1"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 Smart routing: Actionable articles trigger email alerts</a:t>
            </a: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u="none" cap="none" strike="noStrike">
                <a:solidFill>
                  <a:srgbClr val="000000"/>
                </a:solidFill>
                <a:latin typeface="Arial"/>
                <a:ea typeface="Arial"/>
                <a:cs typeface="Arial"/>
                <a:sym typeface="Arial"/>
              </a:rPr>
            </a:br>
            <a:endParaRPr b="0" i="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2400"/>
              <a:buFont typeface="Arial"/>
              <a:buNone/>
            </a:pPr>
            <a:r>
              <a:rPr b="1"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 Everything organized in searchable Google Sheets</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B35"/>
        </a:solidFill>
      </p:bgPr>
    </p:bg>
    <p:spTree>
      <p:nvGrpSpPr>
        <p:cNvPr id="41" name="Shape 41"/>
        <p:cNvGrpSpPr/>
        <p:nvPr/>
      </p:nvGrpSpPr>
      <p:grpSpPr>
        <a:xfrm>
          <a:off x="0" y="0"/>
          <a:ext cx="0" cy="0"/>
          <a:chOff x="0" y="0"/>
          <a:chExt cx="0" cy="0"/>
        </a:xfrm>
      </p:grpSpPr>
      <p:sp>
        <p:nvSpPr>
          <p:cNvPr id="42" name="Google Shape;42;p4"/>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Arial Black"/>
              <a:buNone/>
            </a:pPr>
            <a:r>
              <a:rPr b="1" i="0" lang="en-US" sz="4000" u="none" cap="none" strike="noStrike">
                <a:solidFill>
                  <a:srgbClr val="FFFFFF"/>
                </a:solidFill>
                <a:latin typeface="Arial Black"/>
                <a:ea typeface="Arial Black"/>
                <a:cs typeface="Arial Black"/>
                <a:sym typeface="Arial Black"/>
              </a:rPr>
              <a:t>TIME SAVED &amp; EFFICIENCY ⏰</a:t>
            </a:r>
            <a:endParaRPr b="0" i="0" sz="4000" u="none" cap="none" strike="noStrike">
              <a:solidFill>
                <a:schemeClr val="dk1"/>
              </a:solidFill>
              <a:latin typeface="Calibri"/>
              <a:ea typeface="Calibri"/>
              <a:cs typeface="Calibri"/>
              <a:sym typeface="Calibri"/>
            </a:endParaRPr>
          </a:p>
        </p:txBody>
      </p:sp>
      <p:sp>
        <p:nvSpPr>
          <p:cNvPr id="43" name="Google Shape;43;p4"/>
          <p:cNvSpPr/>
          <p:nvPr/>
        </p:nvSpPr>
        <p:spPr>
          <a:xfrm>
            <a:off x="457200" y="1371600"/>
            <a:ext cx="3840480" cy="3200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40080" y="1451280"/>
            <a:ext cx="3474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2400"/>
              <a:buFont typeface="Arial Black"/>
              <a:buNone/>
            </a:pPr>
            <a:r>
              <a:rPr b="1" i="0" lang="en-US" sz="2400" u="none" cap="none" strike="noStrike">
                <a:solidFill>
                  <a:srgbClr val="FF6B35"/>
                </a:solidFill>
                <a:latin typeface="Arial Black"/>
                <a:ea typeface="Arial Black"/>
                <a:cs typeface="Arial Black"/>
                <a:sym typeface="Arial Black"/>
              </a:rPr>
              <a:t>BEFORE 😫</a:t>
            </a:r>
            <a:endParaRPr b="0" i="0" sz="2400" u="none" cap="none" strike="noStrike">
              <a:solidFill>
                <a:schemeClr val="dk1"/>
              </a:solidFill>
              <a:latin typeface="Calibri"/>
              <a:ea typeface="Calibri"/>
              <a:cs typeface="Calibri"/>
              <a:sym typeface="Calibri"/>
            </a:endParaRPr>
          </a:p>
        </p:txBody>
      </p:sp>
      <p:sp>
        <p:nvSpPr>
          <p:cNvPr id="45" name="Google Shape;45;p4"/>
          <p:cNvSpPr/>
          <p:nvPr/>
        </p:nvSpPr>
        <p:spPr>
          <a:xfrm>
            <a:off x="640080" y="2074135"/>
            <a:ext cx="3474600" cy="2194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6B35"/>
              </a:buClr>
              <a:buSzPts val="1800"/>
              <a:buFont typeface="Arial"/>
              <a:buNone/>
            </a:pPr>
            <a:r>
              <a:rPr b="1" i="0" lang="en-US" sz="1300" u="none" cap="none" strike="noStrike">
                <a:solidFill>
                  <a:srgbClr val="FF6B35"/>
                </a:solidFill>
                <a:latin typeface="Arial"/>
                <a:ea typeface="Arial"/>
                <a:cs typeface="Arial"/>
                <a:sym typeface="Arial"/>
              </a:rPr>
              <a:t>⏱️ 15-20 min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600"/>
              <a:buFont typeface="Arial"/>
              <a:buNone/>
            </a:pPr>
            <a:r>
              <a:rPr b="0" i="0" lang="en-US" sz="1100" u="none" cap="none" strike="noStrike">
                <a:solidFill>
                  <a:srgbClr val="FFFFFF"/>
                </a:solidFill>
                <a:latin typeface="Arial"/>
                <a:ea typeface="Arial"/>
                <a:cs typeface="Arial"/>
                <a:sym typeface="Arial"/>
              </a:rPr>
              <a:t> per article to read and summarize</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300" u="none" cap="none" strike="noStrike">
                <a:solidFill>
                  <a:srgbClr val="000000"/>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1" i="0" lang="en-US" sz="1300" u="none" cap="none" strike="noStrike">
                <a:solidFill>
                  <a:srgbClr val="FF6B35"/>
                </a:solidFill>
                <a:latin typeface="Arial"/>
                <a:ea typeface="Arial"/>
                <a:cs typeface="Arial"/>
                <a:sym typeface="Arial"/>
              </a:rPr>
              <a:t>📝 10 min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600"/>
              <a:buFont typeface="Arial"/>
              <a:buNone/>
            </a:pPr>
            <a:r>
              <a:rPr b="0" i="0" lang="en-US" sz="1100" u="none" cap="none" strike="noStrike">
                <a:solidFill>
                  <a:srgbClr val="FFFFFF"/>
                </a:solidFill>
                <a:latin typeface="Arial"/>
                <a:ea typeface="Arial"/>
                <a:cs typeface="Arial"/>
                <a:sym typeface="Arial"/>
              </a:rPr>
              <a:t> to manually organize notes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300" u="none" cap="none" strike="noStrike">
                <a:solidFill>
                  <a:srgbClr val="000000"/>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1" i="0" lang="en-US" sz="1300" u="none" cap="none" strike="noStrike">
                <a:solidFill>
                  <a:srgbClr val="FF6B35"/>
                </a:solidFill>
                <a:latin typeface="Arial"/>
                <a:ea typeface="Arial"/>
                <a:cs typeface="Arial"/>
                <a:sym typeface="Arial"/>
              </a:rPr>
              <a:t>🔍 5-10 min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600"/>
              <a:buFont typeface="Arial"/>
              <a:buNone/>
            </a:pPr>
            <a:r>
              <a:rPr b="0" i="0" lang="en-US" sz="1100" u="none" cap="none" strike="noStrike">
                <a:solidFill>
                  <a:srgbClr val="FFFFFF"/>
                </a:solidFill>
                <a:latin typeface="Arial"/>
                <a:ea typeface="Arial"/>
                <a:cs typeface="Arial"/>
                <a:sym typeface="Arial"/>
              </a:rPr>
              <a:t> to find notes later</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300" u="none" cap="none" strike="noStrike">
                <a:solidFill>
                  <a:srgbClr val="000000"/>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2000"/>
              <a:buFont typeface="Arial"/>
              <a:buNone/>
            </a:pPr>
            <a:r>
              <a:rPr b="1" i="0" lang="en-US" sz="1500" u="none" cap="none" strike="noStrike">
                <a:solidFill>
                  <a:srgbClr val="FF6B35"/>
                </a:solidFill>
                <a:latin typeface="Arial"/>
                <a:ea typeface="Arial"/>
                <a:cs typeface="Arial"/>
                <a:sym typeface="Arial"/>
              </a:rPr>
              <a:t>Total: 2-3 hours/week</a:t>
            </a:r>
            <a:endParaRPr b="0" i="0" sz="1300" u="none" cap="none" strike="noStrike">
              <a:solidFill>
                <a:schemeClr val="dk1"/>
              </a:solidFill>
              <a:latin typeface="Calibri"/>
              <a:ea typeface="Calibri"/>
              <a:cs typeface="Calibri"/>
              <a:sym typeface="Calibri"/>
            </a:endParaRPr>
          </a:p>
        </p:txBody>
      </p:sp>
      <p:sp>
        <p:nvSpPr>
          <p:cNvPr id="46" name="Google Shape;46;p4"/>
          <p:cNvSpPr/>
          <p:nvPr/>
        </p:nvSpPr>
        <p:spPr>
          <a:xfrm>
            <a:off x="4846320" y="1371600"/>
            <a:ext cx="3840480" cy="3200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5029200" y="1451280"/>
            <a:ext cx="3474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2400"/>
              <a:buFont typeface="Arial Black"/>
              <a:buNone/>
            </a:pPr>
            <a:r>
              <a:rPr b="1" i="0" lang="en-US" sz="2400" u="none" cap="none" strike="noStrike">
                <a:solidFill>
                  <a:srgbClr val="FF6B35"/>
                </a:solidFill>
                <a:latin typeface="Arial Black"/>
                <a:ea typeface="Arial Black"/>
                <a:cs typeface="Arial Black"/>
                <a:sym typeface="Arial Black"/>
              </a:rPr>
              <a:t>AFTER 🎉</a:t>
            </a:r>
            <a:endParaRPr b="0" i="0" sz="2400" u="none" cap="none" strike="noStrike">
              <a:solidFill>
                <a:schemeClr val="dk1"/>
              </a:solidFill>
              <a:latin typeface="Calibri"/>
              <a:ea typeface="Calibri"/>
              <a:cs typeface="Calibri"/>
              <a:sym typeface="Calibri"/>
            </a:endParaRPr>
          </a:p>
        </p:txBody>
      </p:sp>
      <p:sp>
        <p:nvSpPr>
          <p:cNvPr id="48" name="Google Shape;48;p4"/>
          <p:cNvSpPr/>
          <p:nvPr/>
        </p:nvSpPr>
        <p:spPr>
          <a:xfrm>
            <a:off x="5029200" y="2074135"/>
            <a:ext cx="3474600" cy="2194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6B35"/>
              </a:buClr>
              <a:buSzPts val="1800"/>
              <a:buFont typeface="Arial"/>
              <a:buNone/>
            </a:pPr>
            <a:r>
              <a:rPr b="1" i="0" lang="en-US" sz="1300" u="none" cap="none" strike="noStrike">
                <a:solidFill>
                  <a:srgbClr val="FF6B35"/>
                </a:solidFill>
                <a:latin typeface="Arial"/>
                <a:ea typeface="Arial"/>
                <a:cs typeface="Arial"/>
                <a:sym typeface="Arial"/>
              </a:rPr>
              <a:t>⚡ 30 seconds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100" u="none" cap="none" strike="noStrike">
                <a:solidFill>
                  <a:srgbClr val="000000"/>
                </a:solidFill>
                <a:latin typeface="Arial"/>
                <a:ea typeface="Arial"/>
                <a:cs typeface="Arial"/>
                <a:sym typeface="Arial"/>
              </a:rPr>
              <a:t> to submit article to form</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300" u="none" cap="none" strike="noStrike">
                <a:solidFill>
                  <a:srgbClr val="000000"/>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1" i="0" lang="en-US" sz="1300" u="none" cap="none" strike="noStrike">
                <a:solidFill>
                  <a:srgbClr val="FF6B35"/>
                </a:solidFill>
                <a:latin typeface="Arial"/>
                <a:ea typeface="Arial"/>
                <a:cs typeface="Arial"/>
                <a:sym typeface="Arial"/>
              </a:rPr>
              <a:t>🤖 Automated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100" u="none" cap="none" strike="noStrike">
                <a:solidFill>
                  <a:srgbClr val="000000"/>
                </a:solidFill>
                <a:latin typeface="Arial"/>
                <a:ea typeface="Arial"/>
                <a:cs typeface="Arial"/>
                <a:sym typeface="Arial"/>
              </a:rPr>
              <a:t> AI extraction and categorization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300" u="none" cap="none" strike="noStrike">
                <a:solidFill>
                  <a:srgbClr val="000000"/>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1" i="0" lang="en-US" sz="1300" u="none" cap="none" strike="noStrike">
                <a:solidFill>
                  <a:srgbClr val="FF6B35"/>
                </a:solidFill>
                <a:latin typeface="Arial"/>
                <a:ea typeface="Arial"/>
                <a:cs typeface="Arial"/>
                <a:sym typeface="Arial"/>
              </a:rPr>
              <a:t>🔍 Instant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100" u="none" cap="none" strike="noStrike">
                <a:solidFill>
                  <a:srgbClr val="000000"/>
                </a:solidFill>
                <a:latin typeface="Arial"/>
                <a:ea typeface="Arial"/>
                <a:cs typeface="Arial"/>
                <a:sym typeface="Arial"/>
              </a:rPr>
              <a:t> searchable database</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300" u="none" cap="none" strike="noStrike">
                <a:solidFill>
                  <a:srgbClr val="000000"/>
                </a:solidFill>
                <a:latin typeface="Arial"/>
                <a:ea typeface="Arial"/>
                <a:cs typeface="Arial"/>
                <a:sym typeface="Arial"/>
              </a:rPr>
            </a:b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2000"/>
              <a:buFont typeface="Arial"/>
              <a:buNone/>
            </a:pPr>
            <a:r>
              <a:rPr b="1" i="0" lang="en-US" sz="1500" u="none" cap="none" strike="noStrike">
                <a:solidFill>
                  <a:srgbClr val="FF6B35"/>
                </a:solidFill>
                <a:latin typeface="Arial"/>
                <a:ea typeface="Arial"/>
                <a:cs typeface="Arial"/>
                <a:sym typeface="Arial"/>
              </a:rPr>
              <a:t>Total: ~3 min/week</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5"/>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WORKFLOW ARCHITECTURE 🔧</a:t>
            </a:r>
            <a:endParaRPr b="0" i="0" sz="4400" u="none" cap="none" strike="noStrike">
              <a:solidFill>
                <a:schemeClr val="dk1"/>
              </a:solidFill>
              <a:latin typeface="Calibri"/>
              <a:ea typeface="Calibri"/>
              <a:cs typeface="Calibri"/>
              <a:sym typeface="Calibri"/>
            </a:endParaRPr>
          </a:p>
        </p:txBody>
      </p:sp>
      <p:sp>
        <p:nvSpPr>
          <p:cNvPr id="56" name="Google Shape;56;p5"/>
          <p:cNvSpPr/>
          <p:nvPr/>
        </p:nvSpPr>
        <p:spPr>
          <a:xfrm>
            <a:off x="914400" y="1645920"/>
            <a:ext cx="7315200" cy="2743200"/>
          </a:xfrm>
          <a:prstGeom prst="rect">
            <a:avLst/>
          </a:prstGeom>
          <a:solidFill>
            <a:srgbClr val="F5F5F5"/>
          </a:solidFill>
          <a:ln cap="flat" cmpd="sng" w="25400">
            <a:solidFill>
              <a:srgbClr val="FF6B35"/>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800"/>
              <a:buFont typeface="Calibri"/>
              <a:buNone/>
            </a:pPr>
            <a:r>
              <a:rPr b="0" i="1" lang="en-US" sz="1800" u="none" cap="none" strike="noStrike">
                <a:solidFill>
                  <a:srgbClr val="333333"/>
                </a:solidFill>
                <a:latin typeface="Calibri"/>
                <a:ea typeface="Calibri"/>
                <a:cs typeface="Calibri"/>
                <a:sym typeface="Calibri"/>
              </a:rPr>
              <a:t>PLACEHOLDER: Insert screenshot of Make.com workflow diagram here</a:t>
            </a:r>
            <a:endParaRPr b="0" i="0" sz="1800" u="none" cap="none" strike="noStrike">
              <a:solidFill>
                <a:schemeClr val="dk1"/>
              </a:solidFill>
              <a:latin typeface="Calibri"/>
              <a:ea typeface="Calibri"/>
              <a:cs typeface="Calibri"/>
              <a:sym typeface="Calibri"/>
            </a:endParaRPr>
          </a:p>
        </p:txBody>
      </p:sp>
      <p:sp>
        <p:nvSpPr>
          <p:cNvPr id="57" name="Google Shape;57;p5"/>
          <p:cNvSpPr/>
          <p:nvPr/>
        </p:nvSpPr>
        <p:spPr>
          <a:xfrm>
            <a:off x="914400" y="4572000"/>
            <a:ext cx="7315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200"/>
              <a:buFont typeface="Calibri"/>
              <a:buNone/>
            </a:pPr>
            <a:r>
              <a:rPr b="0" i="1" lang="en-US" sz="1200" u="none" cap="none" strike="noStrike">
                <a:solidFill>
                  <a:srgbClr val="333333"/>
                </a:solidFill>
                <a:latin typeface="Calibri"/>
                <a:ea typeface="Calibri"/>
                <a:cs typeface="Calibri"/>
                <a:sym typeface="Calibri"/>
              </a:rPr>
              <a:t>Google Forms → OpenAI → Parse JSON → Router → Gmail + Google Sheets</a:t>
            </a:r>
            <a:endParaRPr b="0" i="0" sz="1200" u="none" cap="none" strike="noStrike">
              <a:solidFill>
                <a:schemeClr val="dk1"/>
              </a:solidFill>
              <a:latin typeface="Calibri"/>
              <a:ea typeface="Calibri"/>
              <a:cs typeface="Calibri"/>
              <a:sym typeface="Calibri"/>
            </a:endParaRPr>
          </a:p>
        </p:txBody>
      </p:sp>
      <p:pic>
        <p:nvPicPr>
          <p:cNvPr id="58" name="Google Shape;58;p5" title="Screenshot 2026-03-20 134350.png"/>
          <p:cNvPicPr preferRelativeResize="0"/>
          <p:nvPr/>
        </p:nvPicPr>
        <p:blipFill>
          <a:blip r:embed="rId3">
            <a:alphaModFix/>
          </a:blip>
          <a:stretch>
            <a:fillRect/>
          </a:stretch>
        </p:blipFill>
        <p:spPr>
          <a:xfrm>
            <a:off x="350700" y="1385325"/>
            <a:ext cx="8442601" cy="3264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6"/>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INPUT: GOOGLE FORM 📝</a:t>
            </a:r>
            <a:endParaRPr b="0" i="0" sz="4400" u="none" cap="none" strike="noStrike">
              <a:solidFill>
                <a:schemeClr val="dk1"/>
              </a:solidFill>
              <a:latin typeface="Calibri"/>
              <a:ea typeface="Calibri"/>
              <a:cs typeface="Calibri"/>
              <a:sym typeface="Calibri"/>
            </a:endParaRPr>
          </a:p>
        </p:txBody>
      </p:sp>
      <p:sp>
        <p:nvSpPr>
          <p:cNvPr id="66" name="Google Shape;66;p6"/>
          <p:cNvSpPr/>
          <p:nvPr/>
        </p:nvSpPr>
        <p:spPr>
          <a:xfrm>
            <a:off x="914400" y="4663440"/>
            <a:ext cx="7315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200"/>
              <a:buFont typeface="Calibri"/>
              <a:buNone/>
            </a:pPr>
            <a:r>
              <a:rPr b="0" i="1" lang="en-US" sz="1200" u="none" cap="none" strike="noStrike">
                <a:solidFill>
                  <a:srgbClr val="333333"/>
                </a:solidFill>
                <a:latin typeface="Calibri"/>
                <a:ea typeface="Calibri"/>
                <a:cs typeface="Calibri"/>
                <a:sym typeface="Calibri"/>
              </a:rPr>
              <a:t> Article title, Category, Content text fields</a:t>
            </a:r>
            <a:endParaRPr b="0" i="0" sz="1200" u="none" cap="none" strike="noStrike">
              <a:solidFill>
                <a:schemeClr val="dk1"/>
              </a:solidFill>
              <a:latin typeface="Calibri"/>
              <a:ea typeface="Calibri"/>
              <a:cs typeface="Calibri"/>
              <a:sym typeface="Calibri"/>
            </a:endParaRPr>
          </a:p>
        </p:txBody>
      </p:sp>
      <p:pic>
        <p:nvPicPr>
          <p:cNvPr id="67" name="Google Shape;67;p6" title="Screenshot 2026-03-20 134611.png"/>
          <p:cNvPicPr preferRelativeResize="0"/>
          <p:nvPr/>
        </p:nvPicPr>
        <p:blipFill>
          <a:blip r:embed="rId3">
            <a:alphaModFix/>
          </a:blip>
          <a:stretch>
            <a:fillRect/>
          </a:stretch>
        </p:blipFill>
        <p:spPr>
          <a:xfrm>
            <a:off x="2539138" y="1158240"/>
            <a:ext cx="4065723" cy="3352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2" name="Shape 72"/>
        <p:cNvGrpSpPr/>
        <p:nvPr/>
      </p:nvGrpSpPr>
      <p:grpSpPr>
        <a:xfrm>
          <a:off x="0" y="0"/>
          <a:ext cx="0" cy="0"/>
          <a:chOff x="0" y="0"/>
          <a:chExt cx="0" cy="0"/>
        </a:xfrm>
      </p:grpSpPr>
      <p:sp>
        <p:nvSpPr>
          <p:cNvPr id="73" name="Google Shape;73;p7"/>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4400"/>
              <a:buFont typeface="Arial Black"/>
              <a:buNone/>
            </a:pPr>
            <a:r>
              <a:rPr b="1" i="0" lang="en-US" sz="4400" u="none" cap="none" strike="noStrike">
                <a:solidFill>
                  <a:srgbClr val="FF6B35"/>
                </a:solidFill>
                <a:latin typeface="Arial Black"/>
                <a:ea typeface="Arial Black"/>
                <a:cs typeface="Arial Black"/>
                <a:sym typeface="Arial Black"/>
              </a:rPr>
              <a:t>AI PROCESSING 🤖</a:t>
            </a:r>
            <a:endParaRPr b="0" i="0" sz="4400" u="none" cap="none" strike="noStrike">
              <a:solidFill>
                <a:schemeClr val="dk1"/>
              </a:solidFill>
              <a:latin typeface="Calibri"/>
              <a:ea typeface="Calibri"/>
              <a:cs typeface="Calibri"/>
              <a:sym typeface="Calibri"/>
            </a:endParaRPr>
          </a:p>
        </p:txBody>
      </p:sp>
      <p:sp>
        <p:nvSpPr>
          <p:cNvPr id="74" name="Google Shape;74;p7"/>
          <p:cNvSpPr/>
          <p:nvPr/>
        </p:nvSpPr>
        <p:spPr>
          <a:xfrm>
            <a:off x="914400" y="4663440"/>
            <a:ext cx="7315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8C42"/>
              </a:buClr>
              <a:buSzPts val="1200"/>
              <a:buFont typeface="Calibri"/>
              <a:buNone/>
            </a:pPr>
            <a:r>
              <a:rPr b="0" i="1" lang="en-US" sz="1200" u="none" cap="none" strike="noStrike">
                <a:solidFill>
                  <a:srgbClr val="FF8C42"/>
                </a:solidFill>
                <a:latin typeface="Calibri"/>
                <a:ea typeface="Calibri"/>
                <a:cs typeface="Calibri"/>
                <a:sym typeface="Calibri"/>
              </a:rPr>
              <a:t> Structured JSON with title, category, key_takeaways, action_items, has_actions</a:t>
            </a:r>
            <a:endParaRPr b="0" i="0" sz="1200" u="none" cap="none" strike="noStrike">
              <a:solidFill>
                <a:schemeClr val="dk1"/>
              </a:solidFill>
              <a:latin typeface="Calibri"/>
              <a:ea typeface="Calibri"/>
              <a:cs typeface="Calibri"/>
              <a:sym typeface="Calibri"/>
            </a:endParaRPr>
          </a:p>
        </p:txBody>
      </p:sp>
      <p:pic>
        <p:nvPicPr>
          <p:cNvPr id="75" name="Google Shape;75;p7" title="Screenshot 2026-03-20 134814.png"/>
          <p:cNvPicPr preferRelativeResize="0"/>
          <p:nvPr/>
        </p:nvPicPr>
        <p:blipFill>
          <a:blip r:embed="rId3">
            <a:alphaModFix/>
          </a:blip>
          <a:stretch>
            <a:fillRect/>
          </a:stretch>
        </p:blipFill>
        <p:spPr>
          <a:xfrm>
            <a:off x="186800" y="1427950"/>
            <a:ext cx="4935609" cy="2958725"/>
          </a:xfrm>
          <a:prstGeom prst="rect">
            <a:avLst/>
          </a:prstGeom>
          <a:noFill/>
          <a:ln>
            <a:noFill/>
          </a:ln>
        </p:spPr>
      </p:pic>
      <p:pic>
        <p:nvPicPr>
          <p:cNvPr id="76" name="Google Shape;76;p7" title="Screenshot 2026-03-20 134852.png"/>
          <p:cNvPicPr preferRelativeResize="0"/>
          <p:nvPr/>
        </p:nvPicPr>
        <p:blipFill>
          <a:blip r:embed="rId4">
            <a:alphaModFix/>
          </a:blip>
          <a:stretch>
            <a:fillRect/>
          </a:stretch>
        </p:blipFill>
        <p:spPr>
          <a:xfrm>
            <a:off x="5328000" y="1520624"/>
            <a:ext cx="3358800" cy="2773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8"/>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INTELLIGENT ROUTING 🚦</a:t>
            </a:r>
            <a:endParaRPr b="0" i="0" sz="4400" u="none" cap="none" strike="noStrike">
              <a:solidFill>
                <a:schemeClr val="dk1"/>
              </a:solidFill>
              <a:latin typeface="Calibri"/>
              <a:ea typeface="Calibri"/>
              <a:cs typeface="Calibri"/>
              <a:sym typeface="Calibri"/>
            </a:endParaRPr>
          </a:p>
        </p:txBody>
      </p:sp>
      <p:sp>
        <p:nvSpPr>
          <p:cNvPr id="84" name="Google Shape;84;p8"/>
          <p:cNvSpPr/>
          <p:nvPr/>
        </p:nvSpPr>
        <p:spPr>
          <a:xfrm>
            <a:off x="457200" y="1371600"/>
            <a:ext cx="3840480" cy="320040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640080" y="155448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Arial Black"/>
              <a:buNone/>
            </a:pPr>
            <a:r>
              <a:rPr b="1" i="0" lang="en-US" sz="2400" u="none" cap="none" strike="noStrike">
                <a:solidFill>
                  <a:srgbClr val="FFFFFF"/>
                </a:solidFill>
                <a:latin typeface="Arial Black"/>
                <a:ea typeface="Arial Black"/>
                <a:cs typeface="Arial Black"/>
                <a:sym typeface="Arial Black"/>
              </a:rPr>
              <a:t>PATH 1 ⚡</a:t>
            </a:r>
            <a:endParaRPr b="0" i="0" sz="2400" u="none" cap="none" strike="noStrike">
              <a:solidFill>
                <a:schemeClr val="dk1"/>
              </a:solidFill>
              <a:latin typeface="Calibri"/>
              <a:ea typeface="Calibri"/>
              <a:cs typeface="Calibri"/>
              <a:sym typeface="Calibri"/>
            </a:endParaRPr>
          </a:p>
        </p:txBody>
      </p:sp>
      <p:sp>
        <p:nvSpPr>
          <p:cNvPr id="86" name="Google Shape;86;p8"/>
          <p:cNvSpPr/>
          <p:nvPr/>
        </p:nvSpPr>
        <p:spPr>
          <a:xfrm>
            <a:off x="640080" y="210312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Actionable Articles</a:t>
            </a:r>
            <a:endParaRPr b="0" i="0" sz="1800" u="none" cap="none" strike="noStrike">
              <a:solidFill>
                <a:schemeClr val="dk1"/>
              </a:solidFill>
              <a:latin typeface="Calibri"/>
              <a:ea typeface="Calibri"/>
              <a:cs typeface="Calibri"/>
              <a:sym typeface="Calibri"/>
            </a:endParaRPr>
          </a:p>
        </p:txBody>
      </p:sp>
      <p:sp>
        <p:nvSpPr>
          <p:cNvPr id="87" name="Google Shape;87;p8"/>
          <p:cNvSpPr/>
          <p:nvPr/>
        </p:nvSpPr>
        <p:spPr>
          <a:xfrm>
            <a:off x="640080" y="2560320"/>
            <a:ext cx="347472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t>
            </a:r>
            <a:r>
              <a:rPr b="0" i="0" lang="en-US" sz="1600" u="none" cap="none" strike="noStrike">
                <a:solidFill>
                  <a:srgbClr val="FFFFFF"/>
                </a:solidFill>
                <a:latin typeface="Arial"/>
                <a:ea typeface="Arial"/>
                <a:cs typeface="Arial"/>
                <a:sym typeface="Arial"/>
              </a:rPr>
              <a:t>has_actions = true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br>
              <a:rPr b="0" i="0" lang="en-US" sz="1800" u="none" cap="none" strike="noStrike">
                <a:solidFill>
                  <a:srgbClr val="FFFFFF"/>
                </a:solidFill>
                <a:latin typeface="Arial"/>
                <a:ea typeface="Arial"/>
                <a:cs typeface="Arial"/>
                <a:sym typeface="Arial"/>
              </a:rPr>
            </a:b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t>
            </a:r>
            <a:r>
              <a:rPr b="0" i="0" lang="en-US" sz="1600" u="none" cap="none" strike="noStrike">
                <a:solidFill>
                  <a:srgbClr val="FFFFFF"/>
                </a:solidFill>
                <a:latin typeface="Arial"/>
                <a:ea typeface="Arial"/>
                <a:cs typeface="Arial"/>
                <a:sym typeface="Arial"/>
              </a:rPr>
              <a:t>Send Gmail alert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br>
              <a:rPr b="0" i="0" lang="en-US" sz="1800" u="none" cap="none" strike="noStrike">
                <a:solidFill>
                  <a:srgbClr val="FFFFFF"/>
                </a:solidFill>
                <a:latin typeface="Arial"/>
                <a:ea typeface="Arial"/>
                <a:cs typeface="Arial"/>
                <a:sym typeface="Arial"/>
              </a:rPr>
            </a:b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t>
            </a:r>
            <a:r>
              <a:rPr b="0" i="0" lang="en-US" sz="1600" u="none" cap="none" strike="noStrike">
                <a:solidFill>
                  <a:srgbClr val="FFFFFF"/>
                </a:solidFill>
                <a:latin typeface="Arial"/>
                <a:ea typeface="Arial"/>
                <a:cs typeface="Arial"/>
                <a:sym typeface="Arial"/>
              </a:rPr>
              <a:t>Add to Sheets</a:t>
            </a:r>
            <a:endParaRPr b="0" i="0" sz="1800" u="none" cap="none" strike="noStrike">
              <a:solidFill>
                <a:schemeClr val="dk1"/>
              </a:solidFill>
              <a:latin typeface="Calibri"/>
              <a:ea typeface="Calibri"/>
              <a:cs typeface="Calibri"/>
              <a:sym typeface="Calibri"/>
            </a:endParaRPr>
          </a:p>
        </p:txBody>
      </p:sp>
      <p:sp>
        <p:nvSpPr>
          <p:cNvPr id="88" name="Google Shape;88;p8"/>
          <p:cNvSpPr/>
          <p:nvPr/>
        </p:nvSpPr>
        <p:spPr>
          <a:xfrm>
            <a:off x="4846320" y="1371600"/>
            <a:ext cx="3840480" cy="3200400"/>
          </a:xfrm>
          <a:prstGeom prst="rect">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a:off x="5029200" y="1554480"/>
            <a:ext cx="3474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Arial Black"/>
              <a:buNone/>
            </a:pPr>
            <a:r>
              <a:rPr b="1" i="0" lang="en-US" sz="2400" u="none" cap="none" strike="noStrike">
                <a:solidFill>
                  <a:srgbClr val="FFFFFF"/>
                </a:solidFill>
                <a:latin typeface="Arial Black"/>
                <a:ea typeface="Arial Black"/>
                <a:cs typeface="Arial Black"/>
                <a:sym typeface="Arial Black"/>
              </a:rPr>
              <a:t>PATH 2 📚</a:t>
            </a:r>
            <a:endParaRPr b="0" i="0" sz="2400" u="none" cap="none" strike="noStrike">
              <a:solidFill>
                <a:schemeClr val="dk1"/>
              </a:solidFill>
              <a:latin typeface="Calibri"/>
              <a:ea typeface="Calibri"/>
              <a:cs typeface="Calibri"/>
              <a:sym typeface="Calibri"/>
            </a:endParaRPr>
          </a:p>
        </p:txBody>
      </p:sp>
      <p:sp>
        <p:nvSpPr>
          <p:cNvPr id="90" name="Google Shape;90;p8"/>
          <p:cNvSpPr/>
          <p:nvPr/>
        </p:nvSpPr>
        <p:spPr>
          <a:xfrm>
            <a:off x="5029200" y="210312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1800"/>
              <a:buFont typeface="Calibri"/>
              <a:buNone/>
            </a:pPr>
            <a:r>
              <a:rPr b="1" i="0" lang="en-US" sz="1800" u="none" cap="none" strike="noStrike">
                <a:solidFill>
                  <a:srgbClr val="FF6B35"/>
                </a:solidFill>
                <a:latin typeface="Calibri"/>
                <a:ea typeface="Calibri"/>
                <a:cs typeface="Calibri"/>
                <a:sym typeface="Calibri"/>
              </a:rPr>
              <a:t>Reference Articles</a:t>
            </a:r>
            <a:endParaRPr b="0" i="0" sz="1800" u="none" cap="none" strike="noStrike">
              <a:solidFill>
                <a:schemeClr val="dk1"/>
              </a:solidFill>
              <a:latin typeface="Calibri"/>
              <a:ea typeface="Calibri"/>
              <a:cs typeface="Calibri"/>
              <a:sym typeface="Calibri"/>
            </a:endParaRPr>
          </a:p>
        </p:txBody>
      </p:sp>
      <p:sp>
        <p:nvSpPr>
          <p:cNvPr id="91" name="Google Shape;91;p8"/>
          <p:cNvSpPr/>
          <p:nvPr/>
        </p:nvSpPr>
        <p:spPr>
          <a:xfrm>
            <a:off x="5029200" y="2560320"/>
            <a:ext cx="3474720" cy="182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t>
            </a:r>
            <a:r>
              <a:rPr b="0" i="0" lang="en-US" sz="1600" u="none" cap="none" strike="noStrike">
                <a:solidFill>
                  <a:srgbClr val="FFFFFF"/>
                </a:solidFill>
                <a:latin typeface="Arial"/>
                <a:ea typeface="Arial"/>
                <a:cs typeface="Arial"/>
                <a:sym typeface="Arial"/>
              </a:rPr>
              <a:t>has_actions = false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br>
              <a:rPr b="0" i="0" lang="en-US" sz="1800" u="none" cap="none" strike="noStrike">
                <a:solidFill>
                  <a:srgbClr val="FFFFFF"/>
                </a:solidFill>
                <a:latin typeface="Arial"/>
                <a:ea typeface="Arial"/>
                <a:cs typeface="Arial"/>
                <a:sym typeface="Arial"/>
              </a:rPr>
            </a:b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t>
            </a:r>
            <a:r>
              <a:rPr b="0" i="0" lang="en-US" sz="1600" u="none" cap="none" strike="noStrike">
                <a:solidFill>
                  <a:srgbClr val="FFFFFF"/>
                </a:solidFill>
                <a:latin typeface="Arial"/>
                <a:ea typeface="Arial"/>
                <a:cs typeface="Arial"/>
                <a:sym typeface="Arial"/>
              </a:rPr>
              <a:t>No alert needed</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br>
              <a:rPr b="0" i="0" lang="en-US" sz="1800" u="none" cap="none" strike="noStrike">
                <a:solidFill>
                  <a:srgbClr val="FFFFFF"/>
                </a:solidFill>
                <a:latin typeface="Arial"/>
                <a:ea typeface="Arial"/>
                <a:cs typeface="Arial"/>
                <a:sym typeface="Arial"/>
              </a:rPr>
            </a:b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a:t>
            </a:r>
            <a:r>
              <a:rPr b="0" i="0" lang="en-US" sz="1600" u="none" cap="none" strike="noStrike">
                <a:solidFill>
                  <a:srgbClr val="FFFFFF"/>
                </a:solidFill>
                <a:latin typeface="Arial"/>
                <a:ea typeface="Arial"/>
                <a:cs typeface="Arial"/>
                <a:sym typeface="Arial"/>
              </a:rPr>
              <a:t>Add to Sheets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9"/>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800"/>
              <a:buFont typeface="Arial Black"/>
              <a:buNone/>
            </a:pPr>
            <a:r>
              <a:rPr b="1" i="0" lang="en-US" sz="3800" u="none" cap="none" strike="noStrike">
                <a:solidFill>
                  <a:srgbClr val="000000"/>
                </a:solidFill>
                <a:latin typeface="Arial Black"/>
                <a:ea typeface="Arial Black"/>
                <a:cs typeface="Arial Black"/>
                <a:sym typeface="Arial Black"/>
              </a:rPr>
              <a:t>OUTPUT: ORGANIZED KNOWLEDGE BASE 📊</a:t>
            </a:r>
            <a:endParaRPr b="0" i="0" sz="3800" u="none" cap="none" strike="noStrike">
              <a:solidFill>
                <a:schemeClr val="dk1"/>
              </a:solidFill>
              <a:latin typeface="Calibri"/>
              <a:ea typeface="Calibri"/>
              <a:cs typeface="Calibri"/>
              <a:sym typeface="Calibri"/>
            </a:endParaRPr>
          </a:p>
        </p:txBody>
      </p:sp>
      <p:sp>
        <p:nvSpPr>
          <p:cNvPr id="99" name="Google Shape;99;p9"/>
          <p:cNvSpPr/>
          <p:nvPr/>
        </p:nvSpPr>
        <p:spPr>
          <a:xfrm>
            <a:off x="914400" y="4663440"/>
            <a:ext cx="7315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200"/>
              <a:buFont typeface="Calibri"/>
              <a:buNone/>
            </a:pPr>
            <a:r>
              <a:rPr b="0" i="1" lang="en-US" sz="1200" u="none" cap="none" strike="noStrike">
                <a:solidFill>
                  <a:srgbClr val="333333"/>
                </a:solidFill>
                <a:latin typeface="Calibri"/>
                <a:ea typeface="Calibri"/>
                <a:cs typeface="Calibri"/>
                <a:sym typeface="Calibri"/>
              </a:rPr>
              <a:t> Separate columns for Title, Category, Key Takeaways, Action Items, Context, Date</a:t>
            </a:r>
            <a:endParaRPr b="0" i="0" sz="1200" u="none" cap="none" strike="noStrike">
              <a:solidFill>
                <a:schemeClr val="dk1"/>
              </a:solidFill>
              <a:latin typeface="Calibri"/>
              <a:ea typeface="Calibri"/>
              <a:cs typeface="Calibri"/>
              <a:sym typeface="Calibri"/>
            </a:endParaRPr>
          </a:p>
        </p:txBody>
      </p:sp>
      <p:pic>
        <p:nvPicPr>
          <p:cNvPr id="100" name="Google Shape;100;p9" title="Screenshot 2026-03-20 135811.png"/>
          <p:cNvPicPr preferRelativeResize="0"/>
          <p:nvPr/>
        </p:nvPicPr>
        <p:blipFill>
          <a:blip r:embed="rId3">
            <a:alphaModFix/>
          </a:blip>
          <a:stretch>
            <a:fillRect/>
          </a:stretch>
        </p:blipFill>
        <p:spPr>
          <a:xfrm>
            <a:off x="267113" y="1706300"/>
            <a:ext cx="8609774" cy="2524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5" name="Shape 105"/>
        <p:cNvGrpSpPr/>
        <p:nvPr/>
      </p:nvGrpSpPr>
      <p:grpSpPr>
        <a:xfrm>
          <a:off x="0" y="0"/>
          <a:ext cx="0" cy="0"/>
          <a:chOff x="0" y="0"/>
          <a:chExt cx="0" cy="0"/>
        </a:xfrm>
      </p:grpSpPr>
      <p:sp>
        <p:nvSpPr>
          <p:cNvPr id="106" name="Google Shape;106;p10"/>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4000"/>
              <a:buFont typeface="Arial Black"/>
              <a:buNone/>
            </a:pPr>
            <a:r>
              <a:rPr b="1" i="0" lang="en-US" sz="4000" u="none" cap="none" strike="noStrike">
                <a:solidFill>
                  <a:srgbClr val="FF6B35"/>
                </a:solidFill>
                <a:latin typeface="Arial Black"/>
                <a:ea typeface="Arial Black"/>
                <a:cs typeface="Arial Black"/>
                <a:sym typeface="Arial Black"/>
              </a:rPr>
              <a:t>RESILIENCE &amp; ERROR HANDLING 🛡️</a:t>
            </a:r>
            <a:endParaRPr b="0" i="0" sz="4000" u="none" cap="none" strike="noStrike">
              <a:solidFill>
                <a:schemeClr val="dk1"/>
              </a:solidFill>
              <a:latin typeface="Calibri"/>
              <a:ea typeface="Calibri"/>
              <a:cs typeface="Calibri"/>
              <a:sym typeface="Calibri"/>
            </a:endParaRPr>
          </a:p>
        </p:txBody>
      </p:sp>
      <p:sp>
        <p:nvSpPr>
          <p:cNvPr id="107" name="Google Shape;107;p10"/>
          <p:cNvSpPr/>
          <p:nvPr/>
        </p:nvSpPr>
        <p:spPr>
          <a:xfrm>
            <a:off x="457200" y="1535025"/>
            <a:ext cx="8229600" cy="320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r>
              <a:rPr b="1" i="0" lang="en-US" sz="2300" u="none" cap="none" strike="noStrike">
                <a:solidFill>
                  <a:srgbClr val="FFFFFF"/>
                </a:solidFill>
                <a:latin typeface="Arial"/>
                <a:ea typeface="Arial"/>
                <a:cs typeface="Arial"/>
                <a:sym typeface="Arial"/>
              </a:rPr>
              <a:t>Production-Ready Architecture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br>
              <a:rPr b="0" i="0" lang="en-US" sz="2300" u="none" cap="none" strike="noStrike">
                <a:solidFill>
                  <a:srgbClr val="000000"/>
                </a:solidFill>
                <a:latin typeface="Arial"/>
                <a:ea typeface="Arial"/>
                <a:cs typeface="Arial"/>
                <a:sym typeface="Arial"/>
              </a:rPr>
            </a:br>
            <a:r>
              <a:rPr b="1" i="0" lang="en-US" sz="1900" u="none" cap="none" strike="noStrike">
                <a:solidFill>
                  <a:srgbClr val="FF6B35"/>
                </a:solidFill>
                <a:latin typeface="Arial"/>
                <a:ea typeface="Arial"/>
                <a:cs typeface="Arial"/>
                <a:sym typeface="Arial"/>
              </a:rPr>
              <a:t>Error Handler on OpenAI Module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0" i="0" lang="en-US" sz="1500" u="none" cap="none" strike="noStrike">
                <a:solidFill>
                  <a:srgbClr val="FF6B35"/>
                </a:solidFill>
                <a:latin typeface="Arial"/>
                <a:ea typeface="Arial"/>
                <a:cs typeface="Arial"/>
                <a:sym typeface="Arial"/>
              </a:rPr>
              <a:t>• </a:t>
            </a:r>
            <a:r>
              <a:rPr b="0" i="0" lang="en-US" sz="1500" u="none" cap="none" strike="noStrike">
                <a:solidFill>
                  <a:srgbClr val="FFFFFF"/>
                </a:solidFill>
                <a:latin typeface="Arial"/>
                <a:ea typeface="Arial"/>
                <a:cs typeface="Arial"/>
                <a:sym typeface="Arial"/>
              </a:rPr>
              <a:t>Catches API timeouts and rate limits</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0" i="0" lang="en-US" sz="1500" u="none" cap="none" strike="noStrike">
                <a:solidFill>
                  <a:srgbClr val="FF6B35"/>
                </a:solidFill>
                <a:latin typeface="Arial"/>
                <a:ea typeface="Arial"/>
                <a:cs typeface="Arial"/>
                <a:sym typeface="Arial"/>
              </a:rPr>
              <a:t>• </a:t>
            </a:r>
            <a:r>
              <a:rPr b="0" i="0" lang="en-US" sz="1500" u="none" cap="none" strike="noStrike">
                <a:solidFill>
                  <a:srgbClr val="FFFFFF"/>
                </a:solidFill>
                <a:latin typeface="Arial"/>
                <a:ea typeface="Arial"/>
                <a:cs typeface="Arial"/>
                <a:sym typeface="Arial"/>
              </a:rPr>
              <a:t>Uses 'Ignore' directive to prevent scenario crashes</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0" i="0" lang="en-US" sz="1500" u="none" cap="none" strike="noStrike">
                <a:solidFill>
                  <a:srgbClr val="FF6B35"/>
                </a:solidFill>
                <a:latin typeface="Arial"/>
                <a:ea typeface="Arial"/>
                <a:cs typeface="Arial"/>
                <a:sym typeface="Arial"/>
              </a:rPr>
              <a:t>• </a:t>
            </a:r>
            <a:r>
              <a:rPr b="0" i="0" lang="en-US" sz="1500" u="none" cap="none" strike="noStrike">
                <a:solidFill>
                  <a:srgbClr val="FFFFFF"/>
                </a:solidFill>
                <a:latin typeface="Arial"/>
                <a:ea typeface="Arial"/>
                <a:cs typeface="Arial"/>
                <a:sym typeface="Arial"/>
              </a:rPr>
              <a:t>Logs failures for review and reprocessing</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br>
              <a:rPr b="0" i="0" lang="en-US" sz="2300" u="none" cap="none" strike="noStrike">
                <a:solidFill>
                  <a:srgbClr val="000000"/>
                </a:solidFill>
                <a:latin typeface="Arial"/>
                <a:ea typeface="Arial"/>
                <a:cs typeface="Arial"/>
                <a:sym typeface="Arial"/>
              </a:rPr>
            </a:br>
            <a:r>
              <a:rPr b="1" i="0" lang="en-US" sz="1900" u="none" cap="none" strike="noStrike">
                <a:solidFill>
                  <a:srgbClr val="FF6B35"/>
                </a:solidFill>
                <a:latin typeface="Arial"/>
                <a:ea typeface="Arial"/>
                <a:cs typeface="Arial"/>
                <a:sym typeface="Arial"/>
              </a:rPr>
              <a:t>Why This Matters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0" i="0" lang="en-US" sz="1500" u="none" cap="none" strike="noStrike">
                <a:solidFill>
                  <a:srgbClr val="FF6B35"/>
                </a:solidFill>
                <a:latin typeface="Arial"/>
                <a:ea typeface="Arial"/>
                <a:cs typeface="Arial"/>
                <a:sym typeface="Arial"/>
              </a:rPr>
              <a:t>• </a:t>
            </a:r>
            <a:r>
              <a:rPr b="0" i="0" lang="en-US" sz="1500" u="none" cap="none" strike="noStrike">
                <a:solidFill>
                  <a:srgbClr val="FFFFFF"/>
                </a:solidFill>
                <a:latin typeface="Arial"/>
                <a:ea typeface="Arial"/>
                <a:cs typeface="Arial"/>
                <a:sym typeface="Arial"/>
              </a:rPr>
              <a:t>AI APIs are the primary failure point</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0" i="0" lang="en-US" sz="1500" u="none" cap="none" strike="noStrike">
                <a:solidFill>
                  <a:srgbClr val="FF6B35"/>
                </a:solidFill>
                <a:latin typeface="Arial"/>
                <a:ea typeface="Arial"/>
                <a:cs typeface="Arial"/>
                <a:sym typeface="Arial"/>
              </a:rPr>
              <a:t>• </a:t>
            </a:r>
            <a:r>
              <a:rPr b="0" i="0" lang="en-US" sz="1500" u="none" cap="none" strike="noStrike">
                <a:solidFill>
                  <a:srgbClr val="FFFFFF"/>
                </a:solidFill>
                <a:latin typeface="Arial"/>
                <a:ea typeface="Arial"/>
                <a:cs typeface="Arial"/>
                <a:sym typeface="Arial"/>
              </a:rPr>
              <a:t>Prevents data loss from failed processing</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6B35"/>
              </a:buClr>
              <a:buSzPts val="1800"/>
              <a:buFont typeface="Arial"/>
              <a:buNone/>
            </a:pPr>
            <a:r>
              <a:rPr b="0" i="0" lang="en-US" sz="1500" u="none" cap="none" strike="noStrike">
                <a:solidFill>
                  <a:srgbClr val="FF6B35"/>
                </a:solidFill>
                <a:latin typeface="Arial"/>
                <a:ea typeface="Arial"/>
                <a:cs typeface="Arial"/>
                <a:sym typeface="Arial"/>
              </a:rPr>
              <a:t>• </a:t>
            </a:r>
            <a:r>
              <a:rPr b="0" i="0" lang="en-US" sz="1500" u="none" cap="none" strike="noStrike">
                <a:solidFill>
                  <a:srgbClr val="FFFFFF"/>
                </a:solidFill>
                <a:latin typeface="Arial"/>
                <a:ea typeface="Arial"/>
                <a:cs typeface="Arial"/>
                <a:sym typeface="Arial"/>
              </a:rPr>
              <a:t>Ensures automation runs reliably without supervision</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11"/>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ERROR HANDLER SETUP ⚙️</a:t>
            </a:r>
            <a:endParaRPr b="0" i="0" sz="4400" u="none" cap="none" strike="noStrike">
              <a:solidFill>
                <a:schemeClr val="dk1"/>
              </a:solidFill>
              <a:latin typeface="Calibri"/>
              <a:ea typeface="Calibri"/>
              <a:cs typeface="Calibri"/>
              <a:sym typeface="Calibri"/>
            </a:endParaRPr>
          </a:p>
        </p:txBody>
      </p:sp>
      <p:sp>
        <p:nvSpPr>
          <p:cNvPr id="115" name="Google Shape;115;p11"/>
          <p:cNvSpPr/>
          <p:nvPr/>
        </p:nvSpPr>
        <p:spPr>
          <a:xfrm>
            <a:off x="914400" y="4663440"/>
            <a:ext cx="7315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200"/>
              <a:buFont typeface="Calibri"/>
              <a:buNone/>
            </a:pPr>
            <a:r>
              <a:rPr b="0" i="1" lang="en-US" sz="1200" u="none" cap="none" strike="noStrike">
                <a:solidFill>
                  <a:srgbClr val="333333"/>
                </a:solidFill>
                <a:latin typeface="Calibri"/>
                <a:ea typeface="Calibri"/>
                <a:cs typeface="Calibri"/>
                <a:sym typeface="Calibri"/>
              </a:rPr>
              <a:t> Error handler on OpenAI module with 'Ignore' directive</a:t>
            </a:r>
            <a:endParaRPr b="0" i="0" sz="1200" u="none" cap="none" strike="noStrike">
              <a:solidFill>
                <a:schemeClr val="dk1"/>
              </a:solidFill>
              <a:latin typeface="Calibri"/>
              <a:ea typeface="Calibri"/>
              <a:cs typeface="Calibri"/>
              <a:sym typeface="Calibri"/>
            </a:endParaRPr>
          </a:p>
        </p:txBody>
      </p:sp>
      <p:pic>
        <p:nvPicPr>
          <p:cNvPr id="116" name="Google Shape;116;p11" title="Screenshot 2026-03-20 140109.png"/>
          <p:cNvPicPr preferRelativeResize="0"/>
          <p:nvPr/>
        </p:nvPicPr>
        <p:blipFill>
          <a:blip r:embed="rId3">
            <a:alphaModFix/>
          </a:blip>
          <a:stretch>
            <a:fillRect/>
          </a:stretch>
        </p:blipFill>
        <p:spPr>
          <a:xfrm>
            <a:off x="2000113" y="1051175"/>
            <a:ext cx="5143775" cy="3566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2"/>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REFLECTION 💭</a:t>
            </a:r>
            <a:endParaRPr b="0" i="0" sz="4400" u="none" cap="none" strike="noStrike">
              <a:solidFill>
                <a:schemeClr val="dk1"/>
              </a:solidFill>
              <a:latin typeface="Calibri"/>
              <a:ea typeface="Calibri"/>
              <a:cs typeface="Calibri"/>
              <a:sym typeface="Calibri"/>
            </a:endParaRPr>
          </a:p>
        </p:txBody>
      </p:sp>
      <p:sp>
        <p:nvSpPr>
          <p:cNvPr id="124" name="Google Shape;124;p12"/>
          <p:cNvSpPr/>
          <p:nvPr/>
        </p:nvSpPr>
        <p:spPr>
          <a:xfrm>
            <a:off x="457200" y="1280160"/>
            <a:ext cx="457200" cy="457200"/>
          </a:xfrm>
          <a:prstGeom prst="ellipse">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2"/>
          <p:cNvSpPr/>
          <p:nvPr/>
        </p:nvSpPr>
        <p:spPr>
          <a:xfrm>
            <a:off x="457200" y="12801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1</a:t>
            </a:r>
            <a:endParaRPr b="0" i="0" sz="2800" u="none" cap="none" strike="noStrike">
              <a:solidFill>
                <a:schemeClr val="dk1"/>
              </a:solidFill>
              <a:latin typeface="Calibri"/>
              <a:ea typeface="Calibri"/>
              <a:cs typeface="Calibri"/>
              <a:sym typeface="Calibri"/>
            </a:endParaRPr>
          </a:p>
        </p:txBody>
      </p:sp>
      <p:sp>
        <p:nvSpPr>
          <p:cNvPr id="126" name="Google Shape;126;p12"/>
          <p:cNvSpPr/>
          <p:nvPr/>
        </p:nvSpPr>
        <p:spPr>
          <a:xfrm>
            <a:off x="1097280" y="1325880"/>
            <a:ext cx="7589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2400"/>
              <a:buFont typeface="Arial Black"/>
              <a:buNone/>
            </a:pPr>
            <a:r>
              <a:rPr b="1" i="0" lang="en-US" sz="2400" u="none" cap="none" strike="noStrike">
                <a:solidFill>
                  <a:srgbClr val="FF6B35"/>
                </a:solidFill>
                <a:latin typeface="Arial Black"/>
                <a:ea typeface="Arial Black"/>
                <a:cs typeface="Arial Black"/>
                <a:sym typeface="Arial Black"/>
              </a:rPr>
              <a:t>The Process I Automated</a:t>
            </a:r>
            <a:endParaRPr b="0" i="0" sz="2400" u="none" cap="none" strike="noStrike">
              <a:solidFill>
                <a:schemeClr val="dk1"/>
              </a:solidFill>
              <a:latin typeface="Calibri"/>
              <a:ea typeface="Calibri"/>
              <a:cs typeface="Calibri"/>
              <a:sym typeface="Calibri"/>
            </a:endParaRPr>
          </a:p>
        </p:txBody>
      </p:sp>
      <p:sp>
        <p:nvSpPr>
          <p:cNvPr id="127" name="Google Shape;127;p12"/>
          <p:cNvSpPr/>
          <p:nvPr/>
        </p:nvSpPr>
        <p:spPr>
          <a:xfrm>
            <a:off x="1097275" y="2011676"/>
            <a:ext cx="7942500" cy="22878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Reading and summarizing articles and books is essential for professional development, but manually extracting key insights and organizing them takes 2-3 hours per week. I automated the entire workflow: article submission, AI-powered analysis, intelligent categorization, and structured storage. Now what took hours happens in seconds.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2" name="Shape 132"/>
        <p:cNvGrpSpPr/>
        <p:nvPr/>
      </p:nvGrpSpPr>
      <p:grpSpPr>
        <a:xfrm>
          <a:off x="0" y="0"/>
          <a:ext cx="0" cy="0"/>
          <a:chOff x="0" y="0"/>
          <a:chExt cx="0" cy="0"/>
        </a:xfrm>
      </p:grpSpPr>
      <p:sp>
        <p:nvSpPr>
          <p:cNvPr id="133" name="Google Shape;133;p13"/>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4400"/>
              <a:buFont typeface="Arial Black"/>
              <a:buNone/>
            </a:pPr>
            <a:r>
              <a:rPr b="1" i="0" lang="en-US" sz="4400" u="none" cap="none" strike="noStrike">
                <a:solidFill>
                  <a:srgbClr val="FF6B35"/>
                </a:solidFill>
                <a:latin typeface="Arial Black"/>
                <a:ea typeface="Arial Black"/>
                <a:cs typeface="Arial Black"/>
                <a:sym typeface="Arial Black"/>
              </a:rPr>
              <a:t>REFLECTION 💭</a:t>
            </a:r>
            <a:endParaRPr b="0" i="0" sz="4400" u="none" cap="none" strike="noStrike">
              <a:solidFill>
                <a:schemeClr val="dk1"/>
              </a:solidFill>
              <a:latin typeface="Calibri"/>
              <a:ea typeface="Calibri"/>
              <a:cs typeface="Calibri"/>
              <a:sym typeface="Calibri"/>
            </a:endParaRPr>
          </a:p>
        </p:txBody>
      </p:sp>
      <p:sp>
        <p:nvSpPr>
          <p:cNvPr id="134" name="Google Shape;134;p13"/>
          <p:cNvSpPr/>
          <p:nvPr/>
        </p:nvSpPr>
        <p:spPr>
          <a:xfrm>
            <a:off x="457200" y="1280160"/>
            <a:ext cx="457200" cy="457200"/>
          </a:xfrm>
          <a:prstGeom prst="ellipse">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457200" y="12801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2</a:t>
            </a:r>
            <a:endParaRPr b="0" i="0" sz="2800" u="none" cap="none" strike="noStrike">
              <a:solidFill>
                <a:schemeClr val="dk1"/>
              </a:solidFill>
              <a:latin typeface="Calibri"/>
              <a:ea typeface="Calibri"/>
              <a:cs typeface="Calibri"/>
              <a:sym typeface="Calibri"/>
            </a:endParaRPr>
          </a:p>
        </p:txBody>
      </p:sp>
      <p:sp>
        <p:nvSpPr>
          <p:cNvPr id="136" name="Google Shape;136;p13"/>
          <p:cNvSpPr/>
          <p:nvPr/>
        </p:nvSpPr>
        <p:spPr>
          <a:xfrm>
            <a:off x="1097280" y="1325880"/>
            <a:ext cx="7589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2400"/>
              <a:buFont typeface="Arial Black"/>
              <a:buNone/>
            </a:pPr>
            <a:r>
              <a:rPr b="1" i="0" lang="en-US" sz="2400" u="none" cap="none" strike="noStrike">
                <a:solidFill>
                  <a:srgbClr val="FF6B35"/>
                </a:solidFill>
                <a:latin typeface="Arial Black"/>
                <a:ea typeface="Arial Black"/>
                <a:cs typeface="Arial Black"/>
                <a:sym typeface="Arial Black"/>
              </a:rPr>
              <a:t>Why It Matters</a:t>
            </a:r>
            <a:endParaRPr b="0" i="0" sz="2400" u="none" cap="none" strike="noStrike">
              <a:solidFill>
                <a:schemeClr val="dk1"/>
              </a:solidFill>
              <a:latin typeface="Calibri"/>
              <a:ea typeface="Calibri"/>
              <a:cs typeface="Calibri"/>
              <a:sym typeface="Calibri"/>
            </a:endParaRPr>
          </a:p>
        </p:txBody>
      </p:sp>
      <p:sp>
        <p:nvSpPr>
          <p:cNvPr id="137" name="Google Shape;137;p13"/>
          <p:cNvSpPr/>
          <p:nvPr/>
        </p:nvSpPr>
        <p:spPr>
          <a:xfrm>
            <a:off x="1067037" y="2071452"/>
            <a:ext cx="7650000" cy="17373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Knowledge management is a competitive advantage. This system ensures I never lose valuable insights, actionable items get immediate attention instead of getting buried, and I can search my entire knowledge base in seconds. It transforms reading from passive consumption into an active learning system that compounds over time.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4"/>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REFLECTION 💭</a:t>
            </a:r>
            <a:endParaRPr b="0" i="0" sz="4400" u="none" cap="none" strike="noStrike">
              <a:solidFill>
                <a:schemeClr val="dk1"/>
              </a:solidFill>
              <a:latin typeface="Calibri"/>
              <a:ea typeface="Calibri"/>
              <a:cs typeface="Calibri"/>
              <a:sym typeface="Calibri"/>
            </a:endParaRPr>
          </a:p>
        </p:txBody>
      </p:sp>
      <p:sp>
        <p:nvSpPr>
          <p:cNvPr id="145" name="Google Shape;145;p14"/>
          <p:cNvSpPr/>
          <p:nvPr/>
        </p:nvSpPr>
        <p:spPr>
          <a:xfrm>
            <a:off x="457200" y="1280160"/>
            <a:ext cx="457200" cy="457200"/>
          </a:xfrm>
          <a:prstGeom prst="ellipse">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457200" y="128016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3</a:t>
            </a:r>
            <a:endParaRPr b="0" i="0" sz="2800" u="none" cap="none" strike="noStrike">
              <a:solidFill>
                <a:schemeClr val="dk1"/>
              </a:solidFill>
              <a:latin typeface="Calibri"/>
              <a:ea typeface="Calibri"/>
              <a:cs typeface="Calibri"/>
              <a:sym typeface="Calibri"/>
            </a:endParaRPr>
          </a:p>
        </p:txBody>
      </p:sp>
      <p:sp>
        <p:nvSpPr>
          <p:cNvPr id="147" name="Google Shape;147;p14"/>
          <p:cNvSpPr/>
          <p:nvPr/>
        </p:nvSpPr>
        <p:spPr>
          <a:xfrm>
            <a:off x="1097280" y="1325880"/>
            <a:ext cx="7589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2400"/>
              <a:buFont typeface="Arial Black"/>
              <a:buNone/>
            </a:pPr>
            <a:r>
              <a:rPr b="1" i="0" lang="en-US" sz="2400" u="none" cap="none" strike="noStrike">
                <a:solidFill>
                  <a:srgbClr val="FF6B35"/>
                </a:solidFill>
                <a:latin typeface="Arial Black"/>
                <a:ea typeface="Arial Black"/>
                <a:cs typeface="Arial Black"/>
                <a:sym typeface="Arial Black"/>
              </a:rPr>
              <a:t>How AI Improved It</a:t>
            </a:r>
            <a:endParaRPr b="0" i="0" sz="2400" u="none" cap="none" strike="noStrike">
              <a:solidFill>
                <a:schemeClr val="dk1"/>
              </a:solidFill>
              <a:latin typeface="Calibri"/>
              <a:ea typeface="Calibri"/>
              <a:cs typeface="Calibri"/>
              <a:sym typeface="Calibri"/>
            </a:endParaRPr>
          </a:p>
        </p:txBody>
      </p:sp>
      <p:sp>
        <p:nvSpPr>
          <p:cNvPr id="148" name="Google Shape;148;p14"/>
          <p:cNvSpPr/>
          <p:nvPr/>
        </p:nvSpPr>
        <p:spPr>
          <a:xfrm>
            <a:off x="1097275" y="2107200"/>
            <a:ext cx="7701600" cy="219330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AI doesn't just save time—it adds intelligence. The structured JSON extraction ensures consistent formatting across all articles. The Router makes smart decisions based on content analysis, automatically prioritizing actionable insights. Without AI, this would require manual reading, subjective categorization, and time-consuming data entry. AI transforms it into a scalable, consistent, intelligent system.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3" name="Shape 153"/>
        <p:cNvGrpSpPr/>
        <p:nvPr/>
      </p:nvGrpSpPr>
      <p:grpSpPr>
        <a:xfrm>
          <a:off x="0" y="0"/>
          <a:ext cx="0" cy="0"/>
          <a:chOff x="0" y="0"/>
          <a:chExt cx="0" cy="0"/>
        </a:xfrm>
      </p:grpSpPr>
      <p:sp>
        <p:nvSpPr>
          <p:cNvPr id="154" name="Google Shape;154;p15"/>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4400"/>
              <a:buFont typeface="Arial Black"/>
              <a:buNone/>
            </a:pPr>
            <a:r>
              <a:rPr b="1" i="0" lang="en-US" sz="4400" u="none" cap="none" strike="noStrike">
                <a:solidFill>
                  <a:srgbClr val="FF6B35"/>
                </a:solidFill>
                <a:latin typeface="Arial Black"/>
                <a:ea typeface="Arial Black"/>
                <a:cs typeface="Arial Black"/>
                <a:sym typeface="Arial Black"/>
              </a:rPr>
              <a:t>REFLECTION 💭</a:t>
            </a:r>
            <a:endParaRPr b="0" i="0" sz="4400" u="none" cap="none" strike="noStrike">
              <a:solidFill>
                <a:schemeClr val="dk1"/>
              </a:solidFill>
              <a:latin typeface="Calibri"/>
              <a:ea typeface="Calibri"/>
              <a:cs typeface="Calibri"/>
              <a:sym typeface="Calibri"/>
            </a:endParaRPr>
          </a:p>
        </p:txBody>
      </p:sp>
      <p:sp>
        <p:nvSpPr>
          <p:cNvPr id="155" name="Google Shape;155;p15"/>
          <p:cNvSpPr/>
          <p:nvPr/>
        </p:nvSpPr>
        <p:spPr>
          <a:xfrm>
            <a:off x="457200" y="1214085"/>
            <a:ext cx="457200" cy="457200"/>
          </a:xfrm>
          <a:prstGeom prst="ellipse">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457200" y="1214085"/>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Arial Black"/>
              <a:buNone/>
            </a:pPr>
            <a:r>
              <a:rPr b="1" i="0" lang="en-US" sz="2800" u="none" cap="none" strike="noStrike">
                <a:solidFill>
                  <a:srgbClr val="FFFFFF"/>
                </a:solidFill>
                <a:latin typeface="Arial Black"/>
                <a:ea typeface="Arial Black"/>
                <a:cs typeface="Arial Black"/>
                <a:sym typeface="Arial Black"/>
              </a:rPr>
              <a:t>4</a:t>
            </a:r>
            <a:endParaRPr b="0" i="0" sz="2800" u="none" cap="none" strike="noStrike">
              <a:solidFill>
                <a:schemeClr val="dk1"/>
              </a:solidFill>
              <a:latin typeface="Calibri"/>
              <a:ea typeface="Calibri"/>
              <a:cs typeface="Calibri"/>
              <a:sym typeface="Calibri"/>
            </a:endParaRPr>
          </a:p>
        </p:txBody>
      </p:sp>
      <p:sp>
        <p:nvSpPr>
          <p:cNvPr id="157" name="Google Shape;157;p15"/>
          <p:cNvSpPr/>
          <p:nvPr/>
        </p:nvSpPr>
        <p:spPr>
          <a:xfrm>
            <a:off x="1097268" y="1214080"/>
            <a:ext cx="75894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35"/>
              </a:buClr>
              <a:buSzPts val="2400"/>
              <a:buFont typeface="Arial Black"/>
              <a:buNone/>
            </a:pPr>
            <a:r>
              <a:rPr b="1" i="0" lang="en-US" sz="2400" u="none" cap="none" strike="noStrike">
                <a:solidFill>
                  <a:srgbClr val="FF6B35"/>
                </a:solidFill>
                <a:latin typeface="Arial Black"/>
                <a:ea typeface="Arial Black"/>
                <a:cs typeface="Arial Black"/>
                <a:sym typeface="Arial Black"/>
              </a:rPr>
              <a:t>Next Steps &amp; Improvements</a:t>
            </a:r>
            <a:endParaRPr b="0" i="0" sz="2400" u="none" cap="none" strike="noStrike">
              <a:solidFill>
                <a:schemeClr val="dk1"/>
              </a:solidFill>
              <a:latin typeface="Calibri"/>
              <a:ea typeface="Calibri"/>
              <a:cs typeface="Calibri"/>
              <a:sym typeface="Calibri"/>
            </a:endParaRPr>
          </a:p>
        </p:txBody>
      </p:sp>
      <p:sp>
        <p:nvSpPr>
          <p:cNvPr id="158" name="Google Shape;158;p15"/>
          <p:cNvSpPr/>
          <p:nvPr/>
        </p:nvSpPr>
        <p:spPr>
          <a:xfrm>
            <a:off x="1097280" y="2011675"/>
            <a:ext cx="7589400" cy="256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6B35"/>
              </a:buClr>
              <a:buSzPts val="2000"/>
              <a:buFont typeface="Arial"/>
              <a:buNone/>
            </a:pPr>
            <a:r>
              <a:rPr b="0"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Add URL scraping to extract article text directly from links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Integrate with Slack for team knowledge sharing</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Add sentiment analysis to flag controversial or biased content</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Build a monthly digest email with top insights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FF6B35"/>
                </a:solidFill>
                <a:latin typeface="Arial"/>
                <a:ea typeface="Arial"/>
                <a:cs typeface="Arial"/>
                <a:sym typeface="Arial"/>
              </a:rPr>
              <a:t>🏢 </a:t>
            </a:r>
            <a:r>
              <a:rPr b="0" i="0" lang="en-US" u="none" cap="none" strike="noStrike">
                <a:solidFill>
                  <a:srgbClr val="FFFFFF"/>
                </a:solidFill>
                <a:latin typeface="Arial"/>
                <a:ea typeface="Arial"/>
                <a:cs typeface="Arial"/>
                <a:sym typeface="Arial"/>
              </a:rPr>
              <a:t>Create a public-facing version for organizational knowledge management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16"/>
          <p:cNvSpPr/>
          <p:nvPr/>
        </p:nvSpPr>
        <p:spPr>
          <a:xfrm>
            <a:off x="0" y="0"/>
            <a:ext cx="9144000" cy="13716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4400"/>
              <a:buFont typeface="Arial Black"/>
              <a:buNone/>
            </a:pPr>
            <a:r>
              <a:rPr b="1" i="0" lang="en-US" sz="4400" u="none" cap="none" strike="noStrike">
                <a:solidFill>
                  <a:srgbClr val="000000"/>
                </a:solidFill>
                <a:latin typeface="Arial Black"/>
                <a:ea typeface="Arial Black"/>
                <a:cs typeface="Arial Black"/>
                <a:sym typeface="Arial Black"/>
              </a:rPr>
              <a:t>KEY TAKEAWAYS 🎯</a:t>
            </a:r>
            <a:endParaRPr b="0" i="0" sz="4400" u="none" cap="none" strike="noStrike">
              <a:solidFill>
                <a:schemeClr val="dk1"/>
              </a:solidFill>
              <a:latin typeface="Calibri"/>
              <a:ea typeface="Calibri"/>
              <a:cs typeface="Calibri"/>
              <a:sym typeface="Calibri"/>
            </a:endParaRPr>
          </a:p>
        </p:txBody>
      </p:sp>
      <p:sp>
        <p:nvSpPr>
          <p:cNvPr id="166" name="Google Shape;166;p16"/>
          <p:cNvSpPr/>
          <p:nvPr/>
        </p:nvSpPr>
        <p:spPr>
          <a:xfrm>
            <a:off x="457200" y="1645920"/>
            <a:ext cx="2560320" cy="256032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457200" y="201168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400"/>
              <a:buFont typeface="Arial Black"/>
              <a:buNone/>
            </a:pPr>
            <a:r>
              <a:rPr b="1" i="0" lang="en-US" sz="4400" u="none" cap="none" strike="noStrike">
                <a:solidFill>
                  <a:srgbClr val="FFFFFF"/>
                </a:solidFill>
                <a:latin typeface="Arial Black"/>
                <a:ea typeface="Arial Black"/>
                <a:cs typeface="Arial Black"/>
                <a:sym typeface="Arial Black"/>
              </a:rPr>
              <a:t>98% ⏱️</a:t>
            </a:r>
            <a:endParaRPr b="0" i="0" sz="4400" u="none" cap="none" strike="noStrike">
              <a:solidFill>
                <a:schemeClr val="dk1"/>
              </a:solidFill>
              <a:latin typeface="Calibri"/>
              <a:ea typeface="Calibri"/>
              <a:cs typeface="Calibri"/>
              <a:sym typeface="Calibri"/>
            </a:endParaRPr>
          </a:p>
        </p:txBody>
      </p:sp>
      <p:sp>
        <p:nvSpPr>
          <p:cNvPr id="168" name="Google Shape;168;p16"/>
          <p:cNvSpPr/>
          <p:nvPr/>
        </p:nvSpPr>
        <p:spPr>
          <a:xfrm>
            <a:off x="457200" y="2743200"/>
            <a:ext cx="25603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Time Saved</a:t>
            </a:r>
            <a:endParaRPr b="0" i="0" sz="1800" u="none" cap="none" strike="noStrike">
              <a:solidFill>
                <a:schemeClr val="dk1"/>
              </a:solidFill>
              <a:latin typeface="Calibri"/>
              <a:ea typeface="Calibri"/>
              <a:cs typeface="Calibri"/>
              <a:sym typeface="Calibri"/>
            </a:endParaRPr>
          </a:p>
        </p:txBody>
      </p:sp>
      <p:sp>
        <p:nvSpPr>
          <p:cNvPr id="169" name="Google Shape;169;p16"/>
          <p:cNvSpPr/>
          <p:nvPr/>
        </p:nvSpPr>
        <p:spPr>
          <a:xfrm>
            <a:off x="457200" y="320040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~3 min vs 2-3 hours/week</a:t>
            </a:r>
            <a:endParaRPr b="0" i="0" sz="1400" u="none" cap="none" strike="noStrike">
              <a:solidFill>
                <a:schemeClr val="dk1"/>
              </a:solidFill>
              <a:latin typeface="Calibri"/>
              <a:ea typeface="Calibri"/>
              <a:cs typeface="Calibri"/>
              <a:sym typeface="Calibri"/>
            </a:endParaRPr>
          </a:p>
        </p:txBody>
      </p:sp>
      <p:sp>
        <p:nvSpPr>
          <p:cNvPr id="170" name="Google Shape;170;p16"/>
          <p:cNvSpPr/>
          <p:nvPr/>
        </p:nvSpPr>
        <p:spPr>
          <a:xfrm>
            <a:off x="3291840" y="1645920"/>
            <a:ext cx="2560320" cy="256032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3291840" y="201168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4400"/>
              <a:buFont typeface="Arial Black"/>
              <a:buNone/>
            </a:pPr>
            <a:r>
              <a:rPr b="1" i="0" lang="en-US" sz="4400" u="none" cap="none" strike="noStrike">
                <a:solidFill>
                  <a:srgbClr val="FF6B35"/>
                </a:solidFill>
                <a:latin typeface="Arial Black"/>
                <a:ea typeface="Arial Black"/>
                <a:cs typeface="Arial Black"/>
                <a:sym typeface="Arial Black"/>
              </a:rPr>
              <a:t>2 🚦</a:t>
            </a:r>
            <a:endParaRPr b="0" i="0" sz="4400" u="none" cap="none" strike="noStrike">
              <a:solidFill>
                <a:schemeClr val="dk1"/>
              </a:solidFill>
              <a:latin typeface="Calibri"/>
              <a:ea typeface="Calibri"/>
              <a:cs typeface="Calibri"/>
              <a:sym typeface="Calibri"/>
            </a:endParaRPr>
          </a:p>
        </p:txBody>
      </p:sp>
      <p:sp>
        <p:nvSpPr>
          <p:cNvPr id="172" name="Google Shape;172;p16"/>
          <p:cNvSpPr/>
          <p:nvPr/>
        </p:nvSpPr>
        <p:spPr>
          <a:xfrm>
            <a:off x="3291840" y="2743200"/>
            <a:ext cx="25603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1800"/>
              <a:buFont typeface="Arial"/>
              <a:buNone/>
            </a:pPr>
            <a:r>
              <a:rPr b="1" i="0" lang="en-US" sz="1800" u="none" cap="none" strike="noStrike">
                <a:solidFill>
                  <a:srgbClr val="FF6B35"/>
                </a:solidFill>
                <a:latin typeface="Arial"/>
                <a:ea typeface="Arial"/>
                <a:cs typeface="Arial"/>
                <a:sym typeface="Arial"/>
              </a:rPr>
              <a:t>Decision Paths</a:t>
            </a:r>
            <a:endParaRPr b="0" i="0" sz="1800" u="none" cap="none" strike="noStrike">
              <a:solidFill>
                <a:schemeClr val="dk1"/>
              </a:solidFill>
              <a:latin typeface="Calibri"/>
              <a:ea typeface="Calibri"/>
              <a:cs typeface="Calibri"/>
              <a:sym typeface="Calibri"/>
            </a:endParaRPr>
          </a:p>
        </p:txBody>
      </p:sp>
      <p:sp>
        <p:nvSpPr>
          <p:cNvPr id="173" name="Google Shape;173;p16"/>
          <p:cNvSpPr/>
          <p:nvPr/>
        </p:nvSpPr>
        <p:spPr>
          <a:xfrm>
            <a:off x="3291840" y="320040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Router logic for intelligent processing</a:t>
            </a:r>
            <a:endParaRPr b="0" i="0" sz="1400" u="none" cap="none" strike="noStrike">
              <a:solidFill>
                <a:schemeClr val="dk1"/>
              </a:solidFill>
              <a:latin typeface="Calibri"/>
              <a:ea typeface="Calibri"/>
              <a:cs typeface="Calibri"/>
              <a:sym typeface="Calibri"/>
            </a:endParaRPr>
          </a:p>
        </p:txBody>
      </p:sp>
      <p:sp>
        <p:nvSpPr>
          <p:cNvPr id="174" name="Google Shape;174;p16"/>
          <p:cNvSpPr/>
          <p:nvPr/>
        </p:nvSpPr>
        <p:spPr>
          <a:xfrm>
            <a:off x="6126480" y="1645920"/>
            <a:ext cx="2560320" cy="256032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6126480" y="201168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400"/>
              <a:buFont typeface="Arial Black"/>
              <a:buNone/>
            </a:pPr>
            <a:r>
              <a:rPr b="1" i="0" lang="en-US" sz="4400" u="none" cap="none" strike="noStrike">
                <a:solidFill>
                  <a:srgbClr val="FFFFFF"/>
                </a:solidFill>
                <a:latin typeface="Arial Black"/>
                <a:ea typeface="Arial Black"/>
                <a:cs typeface="Arial Black"/>
                <a:sym typeface="Arial Black"/>
              </a:rPr>
              <a:t>24/7 🛡️</a:t>
            </a:r>
            <a:endParaRPr b="0" i="0" sz="4400" u="none" cap="none" strike="noStrike">
              <a:solidFill>
                <a:schemeClr val="dk1"/>
              </a:solidFill>
              <a:latin typeface="Calibri"/>
              <a:ea typeface="Calibri"/>
              <a:cs typeface="Calibri"/>
              <a:sym typeface="Calibri"/>
            </a:endParaRPr>
          </a:p>
        </p:txBody>
      </p:sp>
      <p:sp>
        <p:nvSpPr>
          <p:cNvPr id="176" name="Google Shape;176;p16"/>
          <p:cNvSpPr/>
          <p:nvPr/>
        </p:nvSpPr>
        <p:spPr>
          <a:xfrm>
            <a:off x="6126480" y="2743200"/>
            <a:ext cx="25603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Resilience</a:t>
            </a:r>
            <a:endParaRPr b="0" i="0" sz="1800" u="none" cap="none" strike="noStrike">
              <a:solidFill>
                <a:schemeClr val="dk1"/>
              </a:solidFill>
              <a:latin typeface="Calibri"/>
              <a:ea typeface="Calibri"/>
              <a:cs typeface="Calibri"/>
              <a:sym typeface="Calibri"/>
            </a:endParaRPr>
          </a:p>
        </p:txBody>
      </p:sp>
      <p:sp>
        <p:nvSpPr>
          <p:cNvPr id="177" name="Google Shape;177;p16"/>
          <p:cNvSpPr/>
          <p:nvPr/>
        </p:nvSpPr>
        <p:spPr>
          <a:xfrm>
            <a:off x="6126480" y="3200400"/>
            <a:ext cx="25603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Error handling prevents data loss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2" name="Shape 182"/>
        <p:cNvGrpSpPr/>
        <p:nvPr/>
      </p:nvGrpSpPr>
      <p:grpSpPr>
        <a:xfrm>
          <a:off x="0" y="0"/>
          <a:ext cx="0" cy="0"/>
          <a:chOff x="0" y="0"/>
          <a:chExt cx="0" cy="0"/>
        </a:xfrm>
      </p:grpSpPr>
      <p:sp>
        <p:nvSpPr>
          <p:cNvPr id="183" name="Google Shape;183;p17"/>
          <p:cNvSpPr/>
          <p:nvPr/>
        </p:nvSpPr>
        <p:spPr>
          <a:xfrm>
            <a:off x="457200" y="164592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35"/>
              </a:buClr>
              <a:buSzPts val="6000"/>
              <a:buFont typeface="Arial Black"/>
              <a:buNone/>
            </a:pPr>
            <a:r>
              <a:rPr b="1" i="0" lang="en-US" sz="6000" u="none" cap="none" strike="noStrike">
                <a:solidFill>
                  <a:srgbClr val="FF6B35"/>
                </a:solidFill>
                <a:latin typeface="Arial Black"/>
                <a:ea typeface="Arial Black"/>
                <a:cs typeface="Arial Black"/>
                <a:sym typeface="Arial Black"/>
              </a:rPr>
              <a:t>THANK YOU! 🙏</a:t>
            </a:r>
            <a:endParaRPr b="0" i="0" sz="6000" u="none" cap="none" strike="noStrike">
              <a:solidFill>
                <a:schemeClr val="dk1"/>
              </a:solidFill>
              <a:latin typeface="Calibri"/>
              <a:ea typeface="Calibri"/>
              <a:cs typeface="Calibri"/>
              <a:sym typeface="Calibri"/>
            </a:endParaRPr>
          </a:p>
        </p:txBody>
      </p:sp>
      <p:sp>
        <p:nvSpPr>
          <p:cNvPr id="184" name="Google Shape;184;p17"/>
          <p:cNvSpPr/>
          <p:nvPr/>
        </p:nvSpPr>
        <p:spPr>
          <a:xfrm>
            <a:off x="457200" y="2560320"/>
            <a:ext cx="8229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Arial"/>
              <a:buNone/>
            </a:pPr>
            <a:r>
              <a:rPr b="0" i="1" lang="en-US" sz="3200" u="none" cap="none" strike="noStrike">
                <a:solidFill>
                  <a:srgbClr val="FFFFFF"/>
                </a:solidFill>
                <a:latin typeface="Arial"/>
                <a:ea typeface="Arial"/>
                <a:cs typeface="Arial"/>
                <a:sym typeface="Arial"/>
              </a:rPr>
              <a:t>Questions? 💬</a:t>
            </a:r>
            <a:endParaRPr b="0" i="0" sz="3200" u="none" cap="none" strike="noStrike">
              <a:solidFill>
                <a:schemeClr val="dk1"/>
              </a:solidFill>
              <a:latin typeface="Calibri"/>
              <a:ea typeface="Calibri"/>
              <a:cs typeface="Calibri"/>
              <a:sym typeface="Calibri"/>
            </a:endParaRPr>
          </a:p>
        </p:txBody>
      </p:sp>
      <p:sp>
        <p:nvSpPr>
          <p:cNvPr id="185" name="Google Shape;185;p17"/>
          <p:cNvSpPr/>
          <p:nvPr/>
        </p:nvSpPr>
        <p:spPr>
          <a:xfrm>
            <a:off x="0" y="4960620"/>
            <a:ext cx="9144000" cy="182880"/>
          </a:xfrm>
          <a:prstGeom prst="rect">
            <a:avLst/>
          </a:prstGeom>
          <a:solidFill>
            <a:srgbClr val="FF6B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
          <p:cNvSpPr/>
          <p:nvPr/>
        </p:nvSpPr>
        <p:spPr>
          <a:xfrm>
            <a:off x="457200" y="4114800"/>
            <a:ext cx="8229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8C42"/>
              </a:buClr>
              <a:buSzPts val="1400"/>
              <a:buFont typeface="Arial"/>
              <a:buNone/>
            </a:pPr>
            <a:r>
              <a:rPr b="0" i="0" lang="en-US" sz="1400" u="none" cap="none" strike="noStrike">
                <a:solidFill>
                  <a:srgbClr val="FF8C42"/>
                </a:solidFill>
                <a:latin typeface="Arial"/>
                <a:ea typeface="Arial"/>
                <a:cs typeface="Arial"/>
                <a:sym typeface="Arial"/>
              </a:rPr>
              <a:t>Article Summary Organizer | Capstone Project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2026-03-20T20:30:35Z</dcterms:created>
  <dc:creator>Savage</dc:creator>
</cp:coreProperties>
</file>